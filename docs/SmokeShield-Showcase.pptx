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SmokeShield is my computer-vision project: a system that watches ordinary cameras and warns when it sees fire or smoke. In the next seven slides I will cover why it matters, how it works, the product itself, the model results, what small flames taught us about reliability,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motivation. Cameras are cheap and already installed, but nobody can watch dozens of feeds all day, and ordinary smoke alarms only react once smoke reaches them. The idea is to let software watch the cameras. The goal on this slide is the thread of the whole project: alert quickly, avoid false alarms, and keep improving from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Sources can be network cameras, video files, USB webcams or the browser camera. Each enabled camera gets its own worker thread that reads frames, reconnects if the stream drops, and runs at most four detections a second. All workers share one YOLO model, and a new model version can be switched in live. The alarm tracker turns noisy per-frame detections into a stable alarm, and each alarm becomes an incident with a snapshot, a duration and a review status. The dashboard is a React app talking to a FastAPI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On the left, the Monitor page shows every camera live with the detection boxes drawn on the video, and a red banner when a hazard is confirmed. The frame rate shown is honest: this laptop has no GPU. On the right, the Incidents page lists every detection with its snapshot, how long it lasted, and buttons to mark it Real or False alarm. Those reviews feed an accuracy score and can be exported as a training set. Besides these two pages there are also pages for cameras, models, a browser-webcam test and uploading images or videos.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model was a small YOLO11n trained on a 3,000-image subset on the laptop CPU and scored on a 600-image validation subset. The current one is YOLO11s trained on all 14,122 training images on a free Colab GPU for 40 epochs, then scored on the 4,302-image test split it never saw. Overall mAP50 went from 0.645 to 0.767, and fire recall from 0.48 to 0.63. The photo counts come from running the same 90 unseen images through the live system: fire found in 29 of 30, smoke in 29 of 30, and one false alarm on 30 empty scenes. Note that the two evaluation sets differ, so the test-set figures are the more reliable ones. Fire is still the weaker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held a lighter in front of the camera it was missed, flickered, or was slow to confirm. Instead of guessing, we measured. Half of the flames the model was trained on fill under half a percent of the frame, and a lighter is in that range. The chart shows a 0.5 percent flame is found in only 12 percent of frames through the old browser camera path, and 49 percent at 1280 pixels, at a cost of roughly 3.5 times the compute. That shows why the alarm logic has to tolerate misses: it now confirms on one confident detection, holds the alarm for a few seconds, and merges returning detections into one incident. The honest limit is that the model never saw a lighter or match, so the lasting fix is retraining on our own footage. The chart is a proxy using pasted real flame crops, not a lighter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is next. The most valuable next step is alerts, because a detector nobody is told about is not a safety tool yet. Then login and roles, because the dashboard has no accounts today. And the lasting fix for small flames is data: record clips of our own scenes, label them and retrain. The four figures summarise the project: 79 automated backend tests, seven dashboard pages, a 4,302-image unseen test set, and 198 milliseconds per frame on an ordinary laptop CPU at standard detail.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2D"/>
        </a:solidFill>
      </p:bgPr>
    </p:bg>
    <p:spTree>
      <p:nvGrpSpPr>
        <p:cNvPr id="1" name=""/>
        <p:cNvGrpSpPr/>
        <p:nvPr/>
      </p:nvGrpSpPr>
      <p:grpSpPr>
        <a:xfrm>
          <a:off x="0" y="0"/>
          <a:ext cx="0" cy="0"/>
          <a:chOff x="0" y="0"/>
          <a:chExt cx="0" cy="0"/>
        </a:xfrm>
      </p:grpSpPr>
      <p:sp>
        <p:nvSpPr>
          <p:cNvPr id="2" name="a1_0_f"/>
          <p:cNvSpPr/>
          <p:nvPr/>
        </p:nvSpPr>
        <p:spPr>
          <a:xfrm>
            <a:off x="812800" y="812800"/>
            <a:ext cx="558800" cy="558800"/>
          </a:xfrm>
          <a:prstGeom prst="flowChartOffpageConnector">
            <a:avLst/>
          </a:prstGeom>
          <a:solidFill>
            <a:srgbClr val="FF6A2B"/>
          </a:solidFill>
          <a:ln w="12700">
            <a:solidFill>
              <a:srgbClr val="FF6A2B"/>
            </a:solidFill>
            <a:prstDash val="solid"/>
          </a:ln>
        </p:spPr>
      </p:sp>
      <p:sp>
        <p:nvSpPr>
          <p:cNvPr id="3" name="a1_1_f"/>
          <p:cNvSpPr/>
          <p:nvPr/>
        </p:nvSpPr>
        <p:spPr>
          <a:xfrm rot="18900000">
            <a:off x="952500" y="927100"/>
            <a:ext cx="279400" cy="279400"/>
          </a:xfrm>
          <a:prstGeom prst="teardrop">
            <a:avLst/>
          </a:prstGeom>
          <a:solidFill>
            <a:srgbClr val="0B1E2D"/>
          </a:solidFill>
          <a:ln w="12700">
            <a:solidFill>
              <a:srgbClr val="0B1E2D"/>
            </a:solidFill>
            <a:prstDash val="solid"/>
          </a:ln>
        </p:spPr>
      </p:sp>
      <p:sp>
        <p:nvSpPr>
          <p:cNvPr id="4" name="a1_2_f"/>
          <p:cNvSpPr txBox="1"/>
          <p:nvPr/>
        </p:nvSpPr>
        <p:spPr>
          <a:xfrm>
            <a:off x="1524000" y="990600"/>
            <a:ext cx="6350000" cy="254000"/>
          </a:xfrm>
          <a:prstGeom prst="rect">
            <a:avLst/>
          </a:prstGeom>
          <a:noFill/>
          <a:ln/>
        </p:spPr>
        <p:txBody>
          <a:bodyPr wrap="square" lIns="0" tIns="0" rIns="0" bIns="0" rtlCol="0" anchor="t"/>
          <a:lstStyle/>
          <a:p>
            <a:pPr indent="0" marL="0">
              <a:buNone/>
            </a:pPr>
            <a:r>
              <a:rPr lang="en-US" sz="1400" b="1" spc="300" kern="0" dirty="0">
                <a:solidFill>
                  <a:srgbClr val="4EC1CA"/>
                </a:solidFill>
                <a:latin typeface="Calibri" pitchFamily="34" charset="0"/>
                <a:ea typeface="Calibri" pitchFamily="34" charset="-122"/>
                <a:cs typeface="Calibri" pitchFamily="34" charset="-120"/>
              </a:rPr>
              <a:t>COMPUTER VISION PROJECT</a:t>
            </a:r>
            <a:endParaRPr lang="en-US" sz="1400" dirty="0"/>
          </a:p>
        </p:txBody>
      </p:sp>
      <p:sp>
        <p:nvSpPr>
          <p:cNvPr id="5" name="a2_0_w"/>
          <p:cNvSpPr txBox="1"/>
          <p:nvPr/>
        </p:nvSpPr>
        <p:spPr>
          <a:xfrm>
            <a:off x="812800" y="2095500"/>
            <a:ext cx="5334000" cy="95250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SmokeShield</a:t>
            </a:r>
            <a:endParaRPr lang="en-US" sz="6000" dirty="0"/>
          </a:p>
        </p:txBody>
      </p:sp>
      <p:sp>
        <p:nvSpPr>
          <p:cNvPr id="6" name="a3_0_w"/>
          <p:cNvSpPr txBox="1"/>
          <p:nvPr/>
        </p:nvSpPr>
        <p:spPr>
          <a:xfrm>
            <a:off x="812800" y="3143250"/>
            <a:ext cx="5334000" cy="762000"/>
          </a:xfrm>
          <a:prstGeom prst="rect">
            <a:avLst/>
          </a:prstGeom>
          <a:noFill/>
          <a:ln/>
        </p:spPr>
        <p:txBody>
          <a:bodyPr wrap="square" lIns="0" tIns="0" rIns="0" bIns="0" rtlCol="0" anchor="t"/>
          <a:lstStyle/>
          <a:p>
            <a:pPr indent="0" marL="0">
              <a:buNone/>
            </a:pPr>
            <a:r>
              <a:rPr lang="en-US" sz="2200" dirty="0">
                <a:solidFill>
                  <a:srgbClr val="D0DDE7"/>
                </a:solidFill>
                <a:latin typeface="Calibri" pitchFamily="34" charset="0"/>
                <a:ea typeface="Calibri" pitchFamily="34" charset="-122"/>
                <a:cs typeface="Calibri" pitchFamily="34" charset="-120"/>
              </a:rPr>
              <a:t>Real-time fire and smoke detection with YOLO</a:t>
            </a:r>
            <a:endParaRPr lang="en-US" sz="2200" dirty="0"/>
          </a:p>
        </p:txBody>
      </p:sp>
      <p:sp>
        <p:nvSpPr>
          <p:cNvPr id="7" name="a4_0_w"/>
          <p:cNvSpPr txBox="1"/>
          <p:nvPr/>
        </p:nvSpPr>
        <p:spPr>
          <a:xfrm>
            <a:off x="812800" y="4064000"/>
            <a:ext cx="5334000" cy="381000"/>
          </a:xfrm>
          <a:prstGeom prst="rect">
            <a:avLst/>
          </a:prstGeom>
          <a:noFill/>
          <a:ln/>
        </p:spPr>
        <p:txBody>
          <a:bodyPr wrap="square" lIns="0" tIns="0" rIns="0" bIns="0" rtlCol="0" anchor="t"/>
          <a:lstStyle/>
          <a:p>
            <a:pPr indent="0" marL="0">
              <a:buNone/>
            </a:pPr>
            <a:r>
              <a:rPr lang="en-US" sz="1800" i="1" dirty="0">
                <a:solidFill>
                  <a:srgbClr val="8EA3B4"/>
                </a:solidFill>
                <a:latin typeface="Cambria" pitchFamily="34" charset="0"/>
                <a:ea typeface="Cambria" pitchFamily="34" charset="-122"/>
                <a:cs typeface="Cambria" pitchFamily="34" charset="-120"/>
              </a:rPr>
              <a:t>See the flames before they spread</a:t>
            </a:r>
            <a:endParaRPr lang="en-US" sz="1800" dirty="0"/>
          </a:p>
        </p:txBody>
      </p:sp>
      <p:sp>
        <p:nvSpPr>
          <p:cNvPr id="8" name="a5_0_w"/>
          <p:cNvSpPr txBox="1"/>
          <p:nvPr/>
        </p:nvSpPr>
        <p:spPr>
          <a:xfrm>
            <a:off x="812800" y="5213350"/>
            <a:ext cx="6350000" cy="83185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Hemal Katariya</a:t>
            </a:r>
            <a:endParaRPr lang="en-US" sz="1400" dirty="0"/>
          </a:p>
          <a:p>
            <a:pPr indent="0" marL="0">
              <a:spcAft>
                <a:spcPts val="400"/>
              </a:spcAft>
              <a:buNone/>
            </a:pPr>
            <a:r>
              <a:rPr lang="en-US" sz="1300" dirty="0">
                <a:solidFill>
                  <a:srgbClr val="D0DDE7"/>
                </a:solidFill>
                <a:latin typeface="Calibri" pitchFamily="34" charset="0"/>
                <a:ea typeface="Calibri" pitchFamily="34" charset="-122"/>
                <a:cs typeface="Calibri" pitchFamily="34" charset="-120"/>
              </a:rPr>
              <a:t>Enrollment no. 23002171210049</a:t>
            </a:r>
            <a:endParaRPr lang="en-US" sz="1400" dirty="0"/>
          </a:p>
          <a:p>
            <a:pPr indent="0" marL="0">
              <a:buNone/>
            </a:pPr>
            <a:r>
              <a:rPr lang="en-US" sz="1300" dirty="0">
                <a:solidFill>
                  <a:srgbClr val="8EA3B4"/>
                </a:solidFill>
                <a:latin typeface="Calibri" pitchFamily="34" charset="0"/>
                <a:ea typeface="Calibri" pitchFamily="34" charset="-122"/>
                <a:cs typeface="Calibri" pitchFamily="34" charset="-120"/>
              </a:rPr>
              <a:t>LJ University · AML · 1 Nov 2026</a:t>
            </a:r>
            <a:endParaRPr lang="en-US" sz="1400" dirty="0"/>
          </a:p>
        </p:txBody>
      </p:sp>
      <p:pic>
        <p:nvPicPr>
          <p:cNvPr id="9" name="a5_1_f" descr="SmokeShield Monitor page in dark mode with live fire and smoke detections">    </p:cNvPr>
          <p:cNvPicPr>
            <a:picLocks noChangeAspect="1"/>
          </p:cNvPicPr>
          <p:nvPr/>
        </p:nvPicPr>
        <p:blipFill>
          <a:blip r:embed="rId1"/>
          <a:srcRect l="0" r="0" t="0" b="0"/>
          <a:stretch/>
        </p:blipFill>
        <p:spPr>
          <a:xfrm>
            <a:off x="6350000" y="1587500"/>
            <a:ext cx="5016500" cy="313055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8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childTnLst>
                          </p:cTn>
                        </p:par>
                        <p:par>
                          <p:cTn id="18" fill="hold">
                            <p:stCondLst>
                              <p:cond delay="850"/>
                            </p:stCondLst>
                            <p:childTnLst>
                              <p:par>
                                <p:cTn id="15" presetID="2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450"/>
                                        <p:tgtEl>
                                          <p:spTgt spid="5"/>
                                        </p:tgtEl>
                                      </p:cBhvr>
                                    </p:animEffect>
                                  </p:childTnLst>
                                </p:cTn>
                              </p:par>
                            </p:childTnLst>
                          </p:cTn>
                        </p:par>
                        <p:par>
                          <p:cTn id="22" fill="hold">
                            <p:stCondLst>
                              <p:cond delay="1420"/>
                            </p:stCondLst>
                            <p:childTnLst>
                              <p:par>
                                <p:cTn id="19" presetID="22" presetClass="entr" presetSubtype="4"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450"/>
                                        <p:tgtEl>
                                          <p:spTgt spid="6"/>
                                        </p:tgtEl>
                                      </p:cBhvr>
                                    </p:animEffect>
                                  </p:childTnLst>
                                </p:cTn>
                              </p:par>
                            </p:childTnLst>
                          </p:cTn>
                        </p:par>
                        <p:par>
                          <p:cTn id="26" fill="hold">
                            <p:stCondLst>
                              <p:cond delay="1990"/>
                            </p:stCondLst>
                            <p:childTnLst>
                              <p:par>
                                <p:cTn id="23" presetID="22" presetClass="entr" presetSubtype="4"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down)">
                                      <p:cBhvr>
                                        <p:cTn id="25" dur="450"/>
                                        <p:tgtEl>
                                          <p:spTgt spid="7"/>
                                        </p:tgtEl>
                                      </p:cBhvr>
                                    </p:animEffect>
                                  </p:childTnLst>
                                </p:cTn>
                              </p:par>
                            </p:childTnLst>
                          </p:cTn>
                        </p:par>
                        <p:par>
                          <p:cTn id="33" fill="hold">
                            <p:stCondLst>
                              <p:cond delay="2560"/>
                            </p:stCondLst>
                            <p:childTnLst>
                              <p:par>
                                <p:cTn id="27" presetID="22" presetClass="entr" presetSubtype="4"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450"/>
                                        <p:tgtEl>
                                          <p:spTgt spid="8"/>
                                        </p:tgtEl>
                                      </p:cBhvr>
                                    </p:animEffect>
                                  </p:childTnLst>
                                </p:cTn>
                              </p:par>
                              <p:par>
                                <p:cTn id="30" presetID="10" presetClass="entr" presetSubtype="0" fill="hold" grpId="0" nodeType="withEffect">
                                  <p:stCondLst>
                                    <p:cond delay="14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a1_0_f"/>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200" kern="0" dirty="0">
                <a:solidFill>
                  <a:srgbClr val="0F6B73"/>
                </a:solidFill>
                <a:latin typeface="Calibri" pitchFamily="34" charset="0"/>
                <a:ea typeface="Calibri" pitchFamily="34" charset="-122"/>
                <a:cs typeface="Calibri" pitchFamily="34" charset="-120"/>
              </a:rPr>
              <a:t>THE PROBLEM</a:t>
            </a:r>
            <a:endParaRPr lang="en-US" sz="1200" dirty="0"/>
          </a:p>
        </p:txBody>
      </p:sp>
      <p:sp>
        <p:nvSpPr>
          <p:cNvPr id="3" name="a1_1_f"/>
          <p:cNvSpPr txBox="1"/>
          <p:nvPr/>
        </p:nvSpPr>
        <p:spPr>
          <a:xfrm>
            <a:off x="812800" y="1066800"/>
            <a:ext cx="10566400" cy="508000"/>
          </a:xfrm>
          <a:prstGeom prst="rect">
            <a:avLst/>
          </a:prstGeom>
          <a:noFill/>
          <a:ln/>
        </p:spPr>
        <p:txBody>
          <a:bodyPr wrap="square" lIns="0" tIns="0" rIns="0" bIns="0" rtlCol="0" anchor="t"/>
          <a:lstStyle/>
          <a:p>
            <a:pPr indent="0" marL="0">
              <a:buNone/>
            </a:pPr>
            <a:r>
              <a:rPr lang="en-US" sz="2600" b="1" dirty="0">
                <a:solidFill>
                  <a:srgbClr val="0B1E2D"/>
                </a:solidFill>
                <a:latin typeface="Cambria" pitchFamily="34" charset="0"/>
                <a:ea typeface="Cambria" pitchFamily="34" charset="-122"/>
                <a:cs typeface="Cambria" pitchFamily="34" charset="-120"/>
              </a:rPr>
              <a:t>A fire is cheapest to stop in its first minutes</a:t>
            </a:r>
            <a:endParaRPr lang="en-US" sz="2600" dirty="0"/>
          </a:p>
        </p:txBody>
      </p:sp>
      <p:sp>
        <p:nvSpPr>
          <p:cNvPr id="4" name="a2_0_w"/>
          <p:cNvSpPr txBox="1"/>
          <p:nvPr/>
        </p:nvSpPr>
        <p:spPr>
          <a:xfrm>
            <a:off x="812800" y="1905000"/>
            <a:ext cx="3390900" cy="25400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800"/>
              </a:spcAft>
              <a:buNone/>
            </a:pPr>
            <a:r>
              <a:rPr lang="en-US" sz="1200" b="1" dirty="0">
                <a:solidFill>
                  <a:srgbClr val="0F6B73"/>
                </a:solidFill>
                <a:latin typeface="Calibri" pitchFamily="34" charset="0"/>
                <a:ea typeface="Calibri" pitchFamily="34" charset="-122"/>
                <a:cs typeface="Calibri" pitchFamily="34" charset="-120"/>
              </a:rPr>
              <a:t>01</a:t>
            </a:r>
            <a:endParaRPr lang="en-US" sz="1200" dirty="0"/>
          </a:p>
          <a:p>
            <a:pPr indent="0" marL="0">
              <a:spcAft>
                <a:spcPts val="800"/>
              </a:spcAft>
              <a:buNone/>
            </a:pPr>
            <a:r>
              <a:rPr lang="en-US" sz="2000" b="1" dirty="0">
                <a:solidFill>
                  <a:srgbClr val="0B1E2D"/>
                </a:solidFill>
                <a:latin typeface="Calibri" pitchFamily="34" charset="0"/>
                <a:ea typeface="Calibri" pitchFamily="34" charset="-122"/>
                <a:cs typeface="Calibri" pitchFamily="34" charset="-120"/>
              </a:rPr>
              <a:t>Cameras are already everywhere</a:t>
            </a:r>
            <a:endParaRPr lang="en-US" sz="1200" dirty="0"/>
          </a:p>
          <a:p>
            <a:pPr indent="0" marL="0">
              <a:buNone/>
            </a:pPr>
            <a:r>
              <a:rPr lang="en-US" sz="1400" dirty="0">
                <a:solidFill>
                  <a:srgbClr val="334A5E"/>
                </a:solidFill>
                <a:latin typeface="Calibri" pitchFamily="34" charset="0"/>
                <a:ea typeface="Calibri" pitchFamily="34" charset="-122"/>
                <a:cs typeface="Calibri" pitchFamily="34" charset="-120"/>
              </a:rPr>
              <a:t>Shops, warehouses, campuses and homes have CCTV. Almost none of it understands what it records.</a:t>
            </a:r>
            <a:endParaRPr lang="en-US" sz="1200" dirty="0"/>
          </a:p>
        </p:txBody>
      </p:sp>
      <p:sp>
        <p:nvSpPr>
          <p:cNvPr id="5" name="a2_1_w"/>
          <p:cNvSpPr txBox="1"/>
          <p:nvPr/>
        </p:nvSpPr>
        <p:spPr>
          <a:xfrm>
            <a:off x="4400550" y="1905000"/>
            <a:ext cx="3390900" cy="25400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800"/>
              </a:spcAft>
              <a:buNone/>
            </a:pPr>
            <a:r>
              <a:rPr lang="en-US" sz="1200" b="1" dirty="0">
                <a:solidFill>
                  <a:srgbClr val="0F6B73"/>
                </a:solidFill>
                <a:latin typeface="Calibri" pitchFamily="34" charset="0"/>
                <a:ea typeface="Calibri" pitchFamily="34" charset="-122"/>
                <a:cs typeface="Calibri" pitchFamily="34" charset="-120"/>
              </a:rPr>
              <a:t>02</a:t>
            </a:r>
            <a:endParaRPr lang="en-US" sz="1200" dirty="0"/>
          </a:p>
          <a:p>
            <a:pPr indent="0" marL="0">
              <a:spcAft>
                <a:spcPts val="800"/>
              </a:spcAft>
              <a:buNone/>
            </a:pPr>
            <a:r>
              <a:rPr lang="en-US" sz="2000" b="1" dirty="0">
                <a:solidFill>
                  <a:srgbClr val="0B1E2D"/>
                </a:solidFill>
                <a:latin typeface="Calibri" pitchFamily="34" charset="0"/>
                <a:ea typeface="Calibri" pitchFamily="34" charset="-122"/>
                <a:cs typeface="Calibri" pitchFamily="34" charset="-120"/>
              </a:rPr>
              <a:t>People cannot watch every feed</a:t>
            </a:r>
            <a:endParaRPr lang="en-US" sz="1200" dirty="0"/>
          </a:p>
          <a:p>
            <a:pPr indent="0" marL="0">
              <a:buNone/>
            </a:pPr>
            <a:r>
              <a:rPr lang="en-US" sz="1400" dirty="0">
                <a:solidFill>
                  <a:srgbClr val="334A5E"/>
                </a:solidFill>
                <a:latin typeface="Calibri" pitchFamily="34" charset="0"/>
                <a:ea typeface="Calibri" pitchFamily="34" charset="-122"/>
                <a:cs typeface="Calibri" pitchFamily="34" charset="-120"/>
              </a:rPr>
              <a:t>Attention drifts within minutes. A small flame in the corner of one screen is easy to miss.</a:t>
            </a:r>
            <a:endParaRPr lang="en-US" sz="1200" dirty="0"/>
          </a:p>
        </p:txBody>
      </p:sp>
      <p:sp>
        <p:nvSpPr>
          <p:cNvPr id="6" name="a2_2_w"/>
          <p:cNvSpPr txBox="1"/>
          <p:nvPr/>
        </p:nvSpPr>
        <p:spPr>
          <a:xfrm>
            <a:off x="7988300" y="1905000"/>
            <a:ext cx="3390900" cy="25400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800"/>
              </a:spcAft>
              <a:buNone/>
            </a:pPr>
            <a:r>
              <a:rPr lang="en-US" sz="1200" b="1" dirty="0">
                <a:solidFill>
                  <a:srgbClr val="0F6B73"/>
                </a:solidFill>
                <a:latin typeface="Calibri" pitchFamily="34" charset="0"/>
                <a:ea typeface="Calibri" pitchFamily="34" charset="-122"/>
                <a:cs typeface="Calibri" pitchFamily="34" charset="-120"/>
              </a:rPr>
              <a:t>03</a:t>
            </a:r>
            <a:endParaRPr lang="en-US" sz="1200" dirty="0"/>
          </a:p>
          <a:p>
            <a:pPr indent="0" marL="0">
              <a:spcAft>
                <a:spcPts val="800"/>
              </a:spcAft>
              <a:buNone/>
            </a:pPr>
            <a:r>
              <a:rPr lang="en-US" sz="2000" b="1" dirty="0">
                <a:solidFill>
                  <a:srgbClr val="0B1E2D"/>
                </a:solidFill>
                <a:latin typeface="Calibri" pitchFamily="34" charset="0"/>
                <a:ea typeface="Calibri" pitchFamily="34" charset="-122"/>
                <a:cs typeface="Calibri" pitchFamily="34" charset="-120"/>
              </a:rPr>
              <a:t>Smoke alarms wait for the smoke</a:t>
            </a:r>
            <a:endParaRPr lang="en-US" sz="1200" dirty="0"/>
          </a:p>
          <a:p>
            <a:pPr indent="0" marL="0">
              <a:buNone/>
            </a:pPr>
            <a:r>
              <a:rPr lang="en-US" sz="1400" dirty="0">
                <a:solidFill>
                  <a:srgbClr val="334A5E"/>
                </a:solidFill>
                <a:latin typeface="Calibri" pitchFamily="34" charset="0"/>
                <a:ea typeface="Calibri" pitchFamily="34" charset="-122"/>
                <a:cs typeface="Calibri" pitchFamily="34" charset="-120"/>
              </a:rPr>
              <a:t>A conventional alarm reacts once particles reach the sensor, which can be late in large or open spaces.</a:t>
            </a:r>
            <a:endParaRPr lang="en-US" sz="1200" dirty="0"/>
          </a:p>
        </p:txBody>
      </p:sp>
      <p:sp>
        <p:nvSpPr>
          <p:cNvPr id="7" name="a3_0_w"/>
          <p:cNvSpPr txBox="1"/>
          <p:nvPr/>
        </p:nvSpPr>
        <p:spPr>
          <a:xfrm>
            <a:off x="812800" y="4889500"/>
            <a:ext cx="9525000" cy="825500"/>
          </a:xfrm>
          <a:prstGeom prst="rect">
            <a:avLst/>
          </a:prstGeom>
          <a:noFill/>
          <a:ln/>
        </p:spPr>
        <p:txBody>
          <a:bodyPr wrap="square" lIns="0" tIns="0" rIns="0" bIns="0" rtlCol="0" anchor="t"/>
          <a:lstStyle/>
          <a:p>
            <a:pPr indent="0" marL="0">
              <a:buNone/>
            </a:pPr>
            <a:r>
              <a:rPr lang="en-US" sz="2100" dirty="0">
                <a:solidFill>
                  <a:srgbClr val="0B1E2D"/>
                </a:solidFill>
                <a:latin typeface="Cambria" pitchFamily="34" charset="0"/>
                <a:ea typeface="Cambria" pitchFamily="34" charset="-122"/>
                <a:cs typeface="Cambria" pitchFamily="34" charset="-120"/>
              </a:rPr>
              <a:t>The goal: turn ordinary cameras into detectors that alert quickly, rarely cry wolf, and learn from every mistake.</a:t>
            </a:r>
            <a:endParaRPr lang="en-US" sz="2100" dirty="0"/>
          </a:p>
        </p:txBody>
      </p:sp>
      <p:sp>
        <p:nvSpPr>
          <p:cNvPr id="8" name="footer-note"/>
          <p:cNvSpPr txBox="1"/>
          <p:nvPr/>
        </p:nvSpPr>
        <p:spPr>
          <a:xfrm>
            <a:off x="812800" y="6261100"/>
            <a:ext cx="8890000" cy="215900"/>
          </a:xfrm>
          <a:prstGeom prst="rect">
            <a:avLst/>
          </a:prstGeom>
          <a:noFill/>
          <a:ln/>
        </p:spPr>
        <p:txBody>
          <a:bodyPr wrap="square" lIns="0" tIns="0" rIns="0" bIns="0" rtlCol="0" anchor="t"/>
          <a:lstStyle/>
          <a:p>
            <a:pPr indent="0" marL="0">
              <a:buNone/>
            </a:pPr>
            <a:r>
              <a:rPr lang="en-US" sz="1200" dirty="0">
                <a:solidFill>
                  <a:srgbClr val="4A5F6F"/>
                </a:solidFill>
                <a:latin typeface="Calibri" pitchFamily="34" charset="0"/>
                <a:ea typeface="Calibri" pitchFamily="34" charset="-122"/>
                <a:cs typeface="Calibri" pitchFamily="34" charset="-120"/>
              </a:rPr>
              <a:t>SmokeShield · Computer Vision project</a:t>
            </a:r>
            <a:endParaRPr lang="en-US" sz="1200" dirty="0"/>
          </a:p>
        </p:txBody>
      </p:sp>
      <p:sp>
        <p:nvSpPr>
          <p:cNvPr id="9" name="footer-page"/>
          <p:cNvSpPr txBox="1"/>
          <p:nvPr/>
        </p:nvSpPr>
        <p:spPr>
          <a:xfrm>
            <a:off x="10109200" y="6261100"/>
            <a:ext cx="1270000" cy="215900"/>
          </a:xfrm>
          <a:prstGeom prst="rect">
            <a:avLst/>
          </a:prstGeom>
          <a:noFill/>
          <a:ln/>
        </p:spPr>
        <p:txBody>
          <a:bodyPr wrap="square" lIns="0" tIns="0" rIns="0" bIns="0" rtlCol="0" anchor="t"/>
          <a:lstStyle/>
          <a:p>
            <a:pPr algn="r" indent="0" marL="0">
              <a:buNone/>
            </a:pPr>
            <a:r>
              <a:rPr lang="en-US" sz="1200" dirty="0">
                <a:solidFill>
                  <a:srgbClr val="4A5F6F"/>
                </a:solidFill>
                <a:latin typeface="Calibri" pitchFamily="34" charset="0"/>
                <a:ea typeface="Calibri" pitchFamily="34" charset="-122"/>
                <a:cs typeface="Calibri" pitchFamily="34" charset="-120"/>
              </a:rPr>
              <a:t>2 / 7</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par>
                          <p:cTn id="21" fill="hold">
                            <p:stCondLst>
                              <p:cond delay="710"/>
                            </p:stCondLst>
                            <p:childTnLst>
                              <p:par>
                                <p:cTn id="12" presetID="22" presetClass="entr" presetSubtype="4"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450"/>
                                        <p:tgtEl>
                                          <p:spTgt spid="4"/>
                                        </p:tgtEl>
                                      </p:cBhvr>
                                    </p:animEffect>
                                  </p:childTnLst>
                                </p:cTn>
                              </p:par>
                              <p:par>
                                <p:cTn id="15" presetID="22" presetClass="entr" presetSubtype="4" fill="hold" grpId="0" nodeType="withEffect">
                                  <p:stCondLst>
                                    <p:cond delay="14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450"/>
                                        <p:tgtEl>
                                          <p:spTgt spid="5"/>
                                        </p:tgtEl>
                                      </p:cBhvr>
                                    </p:animEffect>
                                  </p:childTnLst>
                                </p:cTn>
                              </p:par>
                              <p:par>
                                <p:cTn id="18" presetID="22" presetClass="entr" presetSubtype="4" fill="hold" grpId="0" nodeType="withEffect">
                                  <p:stCondLst>
                                    <p:cond delay="28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450"/>
                                        <p:tgtEl>
                                          <p:spTgt spid="6"/>
                                        </p:tgtEl>
                                      </p:cBhvr>
                                    </p:animEffect>
                                  </p:childTnLst>
                                </p:cTn>
                              </p:par>
                            </p:childTnLst>
                          </p:cTn>
                        </p:par>
                        <p:par>
                          <p:cTn id="25" fill="hold">
                            <p:stCondLst>
                              <p:cond delay="1560"/>
                            </p:stCondLst>
                            <p:childTnLst>
                              <p:par>
                                <p:cTn id="22" presetID="22" presetClass="entr" presetSubtype="4"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4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a1_0_f"/>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200" kern="0" dirty="0">
                <a:solidFill>
                  <a:srgbClr val="0F6B73"/>
                </a:solidFill>
                <a:latin typeface="Calibri" pitchFamily="34" charset="0"/>
                <a:ea typeface="Calibri" pitchFamily="34" charset="-122"/>
                <a:cs typeface="Calibri" pitchFamily="34" charset="-120"/>
              </a:rPr>
              <a:t>EXHIBIT 1 · ARCHITECTURE</a:t>
            </a:r>
            <a:endParaRPr lang="en-US" sz="1200" dirty="0"/>
          </a:p>
        </p:txBody>
      </p:sp>
      <p:sp>
        <p:nvSpPr>
          <p:cNvPr id="3" name="a1_1_f"/>
          <p:cNvSpPr txBox="1"/>
          <p:nvPr/>
        </p:nvSpPr>
        <p:spPr>
          <a:xfrm>
            <a:off x="812800" y="1066800"/>
            <a:ext cx="10566400" cy="508000"/>
          </a:xfrm>
          <a:prstGeom prst="rect">
            <a:avLst/>
          </a:prstGeom>
          <a:noFill/>
          <a:ln/>
        </p:spPr>
        <p:txBody>
          <a:bodyPr wrap="square" lIns="0" tIns="0" rIns="0" bIns="0" rtlCol="0" anchor="t"/>
          <a:lstStyle/>
          <a:p>
            <a:pPr indent="0" marL="0">
              <a:buNone/>
            </a:pPr>
            <a:r>
              <a:rPr lang="en-US" sz="2600" b="1" dirty="0">
                <a:solidFill>
                  <a:srgbClr val="0B1E2D"/>
                </a:solidFill>
                <a:latin typeface="Cambria" pitchFamily="34" charset="0"/>
                <a:ea typeface="Cambria" pitchFamily="34" charset="-122"/>
                <a:cs typeface="Cambria" pitchFamily="34" charset="-120"/>
              </a:rPr>
              <a:t>Every camera runs in its own worker and shares one model</a:t>
            </a:r>
            <a:endParaRPr lang="en-US" sz="2600" dirty="0"/>
          </a:p>
        </p:txBody>
      </p:sp>
      <p:sp>
        <p:nvSpPr>
          <p:cNvPr id="4" name="a2_0_w"/>
          <p:cNvSpPr txBox="1"/>
          <p:nvPr/>
        </p:nvSpPr>
        <p:spPr>
          <a:xfrm>
            <a:off x="812800" y="1968500"/>
            <a:ext cx="1828800" cy="19050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600"/>
              </a:spcAft>
              <a:buNone/>
            </a:pPr>
            <a:r>
              <a:rPr lang="en-US" sz="1200" b="1" dirty="0">
                <a:solidFill>
                  <a:srgbClr val="0F6B73"/>
                </a:solidFill>
                <a:latin typeface="Calibri" pitchFamily="34" charset="0"/>
                <a:ea typeface="Calibri" pitchFamily="34" charset="-122"/>
                <a:cs typeface="Calibri" pitchFamily="34" charset="-120"/>
              </a:rPr>
              <a:t>01</a:t>
            </a:r>
            <a:endParaRPr lang="en-US" sz="1200" dirty="0"/>
          </a:p>
          <a:p>
            <a:pPr indent="0" marL="0">
              <a:spcAft>
                <a:spcPts val="600"/>
              </a:spcAft>
              <a:buNone/>
            </a:pPr>
            <a:r>
              <a:rPr lang="en-US" sz="1600" b="1" dirty="0">
                <a:solidFill>
                  <a:srgbClr val="0B1E2D"/>
                </a:solidFill>
                <a:latin typeface="Calibri" pitchFamily="34" charset="0"/>
                <a:ea typeface="Calibri" pitchFamily="34" charset="-122"/>
                <a:cs typeface="Calibri" pitchFamily="34" charset="-120"/>
              </a:rPr>
              <a:t>Sources</a:t>
            </a:r>
            <a:endParaRPr lang="en-US" sz="1200" dirty="0"/>
          </a:p>
          <a:p>
            <a:pPr indent="0" marL="0">
              <a:buNone/>
            </a:pPr>
            <a:r>
              <a:rPr lang="en-US" sz="1300" dirty="0">
                <a:solidFill>
                  <a:srgbClr val="334A5E"/>
                </a:solidFill>
                <a:latin typeface="Calibri" pitchFamily="34" charset="0"/>
                <a:ea typeface="Calibri" pitchFamily="34" charset="-122"/>
                <a:cs typeface="Calibri" pitchFamily="34" charset="-120"/>
              </a:rPr>
              <a:t>RTSP cameras, video files, USB and browser webcams</a:t>
            </a:r>
            <a:endParaRPr lang="en-US" sz="1200" dirty="0"/>
          </a:p>
        </p:txBody>
      </p:sp>
      <p:sp>
        <p:nvSpPr>
          <p:cNvPr id="5" name="a2_1_f"/>
          <p:cNvSpPr/>
          <p:nvPr/>
        </p:nvSpPr>
        <p:spPr>
          <a:xfrm>
            <a:off x="2667000" y="2832100"/>
            <a:ext cx="304800" cy="177800"/>
          </a:xfrm>
          <a:prstGeom prst="rightArrow">
            <a:avLst/>
          </a:prstGeom>
          <a:solidFill>
            <a:srgbClr val="4A5F6F"/>
          </a:solidFill>
          <a:ln w="12700">
            <a:solidFill>
              <a:srgbClr val="4A5F6F"/>
            </a:solidFill>
            <a:prstDash val="solid"/>
          </a:ln>
        </p:spPr>
      </p:sp>
      <p:sp>
        <p:nvSpPr>
          <p:cNvPr id="6" name="a2_2_w"/>
          <p:cNvSpPr txBox="1"/>
          <p:nvPr/>
        </p:nvSpPr>
        <p:spPr>
          <a:xfrm>
            <a:off x="2997200" y="1968500"/>
            <a:ext cx="1828800" cy="19050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600"/>
              </a:spcAft>
              <a:buNone/>
            </a:pPr>
            <a:r>
              <a:rPr lang="en-US" sz="1200" b="1" dirty="0">
                <a:solidFill>
                  <a:srgbClr val="0F6B73"/>
                </a:solidFill>
                <a:latin typeface="Calibri" pitchFamily="34" charset="0"/>
                <a:ea typeface="Calibri" pitchFamily="34" charset="-122"/>
                <a:cs typeface="Calibri" pitchFamily="34" charset="-120"/>
              </a:rPr>
              <a:t>02</a:t>
            </a:r>
            <a:endParaRPr lang="en-US" sz="1200" dirty="0"/>
          </a:p>
          <a:p>
            <a:pPr indent="0" marL="0">
              <a:spcAft>
                <a:spcPts val="600"/>
              </a:spcAft>
              <a:buNone/>
            </a:pPr>
            <a:r>
              <a:rPr lang="en-US" sz="1600" b="1" dirty="0">
                <a:solidFill>
                  <a:srgbClr val="0B1E2D"/>
                </a:solidFill>
                <a:latin typeface="Calibri" pitchFamily="34" charset="0"/>
                <a:ea typeface="Calibri" pitchFamily="34" charset="-122"/>
                <a:cs typeface="Calibri" pitchFamily="34" charset="-120"/>
              </a:rPr>
              <a:t>Workers</a:t>
            </a:r>
            <a:endParaRPr lang="en-US" sz="1200" dirty="0"/>
          </a:p>
          <a:p>
            <a:pPr indent="0" marL="0">
              <a:buNone/>
            </a:pPr>
            <a:r>
              <a:rPr lang="en-US" sz="1300" dirty="0">
                <a:solidFill>
                  <a:srgbClr val="334A5E"/>
                </a:solidFill>
                <a:latin typeface="Calibri" pitchFamily="34" charset="0"/>
                <a:ea typeface="Calibri" pitchFamily="34" charset="-122"/>
                <a:cs typeface="Calibri" pitchFamily="34" charset="-120"/>
              </a:rPr>
              <a:t>One thread per camera, auto-reconnect, up to 4 frames a second</a:t>
            </a:r>
            <a:endParaRPr lang="en-US" sz="1200" dirty="0"/>
          </a:p>
        </p:txBody>
      </p:sp>
      <p:sp>
        <p:nvSpPr>
          <p:cNvPr id="7" name="a2_3_f"/>
          <p:cNvSpPr/>
          <p:nvPr/>
        </p:nvSpPr>
        <p:spPr>
          <a:xfrm>
            <a:off x="4851400" y="2832100"/>
            <a:ext cx="304800" cy="177800"/>
          </a:xfrm>
          <a:prstGeom prst="rightArrow">
            <a:avLst/>
          </a:prstGeom>
          <a:solidFill>
            <a:srgbClr val="4A5F6F"/>
          </a:solidFill>
          <a:ln w="12700">
            <a:solidFill>
              <a:srgbClr val="4A5F6F"/>
            </a:solidFill>
            <a:prstDash val="solid"/>
          </a:ln>
        </p:spPr>
      </p:sp>
      <p:sp>
        <p:nvSpPr>
          <p:cNvPr id="8" name="a2_4_w"/>
          <p:cNvSpPr txBox="1"/>
          <p:nvPr/>
        </p:nvSpPr>
        <p:spPr>
          <a:xfrm>
            <a:off x="5181600" y="1968500"/>
            <a:ext cx="1828800" cy="19050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600"/>
              </a:spcAft>
              <a:buNone/>
            </a:pPr>
            <a:r>
              <a:rPr lang="en-US" sz="1200" b="1" dirty="0">
                <a:solidFill>
                  <a:srgbClr val="0F6B73"/>
                </a:solidFill>
                <a:latin typeface="Calibri" pitchFamily="34" charset="0"/>
                <a:ea typeface="Calibri" pitchFamily="34" charset="-122"/>
                <a:cs typeface="Calibri" pitchFamily="34" charset="-120"/>
              </a:rPr>
              <a:t>03</a:t>
            </a:r>
            <a:endParaRPr lang="en-US" sz="1200" dirty="0"/>
          </a:p>
          <a:p>
            <a:pPr indent="0" marL="0">
              <a:spcAft>
                <a:spcPts val="600"/>
              </a:spcAft>
              <a:buNone/>
            </a:pPr>
            <a:r>
              <a:rPr lang="en-US" sz="1600" b="1" dirty="0">
                <a:solidFill>
                  <a:srgbClr val="0B1E2D"/>
                </a:solidFill>
                <a:latin typeface="Calibri" pitchFamily="34" charset="0"/>
                <a:ea typeface="Calibri" pitchFamily="34" charset="-122"/>
                <a:cs typeface="Calibri" pitchFamily="34" charset="-120"/>
              </a:rPr>
              <a:t>YOLO11s model</a:t>
            </a:r>
            <a:endParaRPr lang="en-US" sz="1200" dirty="0"/>
          </a:p>
          <a:p>
            <a:pPr indent="0" marL="0">
              <a:buNone/>
            </a:pPr>
            <a:r>
              <a:rPr lang="en-US" sz="1300" dirty="0">
                <a:solidFill>
                  <a:srgbClr val="334A5E"/>
                </a:solidFill>
                <a:latin typeface="Calibri" pitchFamily="34" charset="0"/>
                <a:ea typeface="Calibri" pitchFamily="34" charset="-122"/>
                <a:cs typeface="Calibri" pitchFamily="34" charset="-120"/>
              </a:rPr>
              <a:t>One shared model, swapped live with no restart</a:t>
            </a:r>
            <a:endParaRPr lang="en-US" sz="1200" dirty="0"/>
          </a:p>
        </p:txBody>
      </p:sp>
      <p:sp>
        <p:nvSpPr>
          <p:cNvPr id="9" name="a2_5_f"/>
          <p:cNvSpPr/>
          <p:nvPr/>
        </p:nvSpPr>
        <p:spPr>
          <a:xfrm>
            <a:off x="7035800" y="2832100"/>
            <a:ext cx="304800" cy="177800"/>
          </a:xfrm>
          <a:prstGeom prst="rightArrow">
            <a:avLst/>
          </a:prstGeom>
          <a:solidFill>
            <a:srgbClr val="4A5F6F"/>
          </a:solidFill>
          <a:ln w="12700">
            <a:solidFill>
              <a:srgbClr val="4A5F6F"/>
            </a:solidFill>
            <a:prstDash val="solid"/>
          </a:ln>
        </p:spPr>
      </p:sp>
      <p:sp>
        <p:nvSpPr>
          <p:cNvPr id="10" name="a2_6_w"/>
          <p:cNvSpPr txBox="1"/>
          <p:nvPr/>
        </p:nvSpPr>
        <p:spPr>
          <a:xfrm>
            <a:off x="7366000" y="1968500"/>
            <a:ext cx="1828800" cy="19050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600"/>
              </a:spcAft>
              <a:buNone/>
            </a:pPr>
            <a:r>
              <a:rPr lang="en-US" sz="1200" b="1" dirty="0">
                <a:solidFill>
                  <a:srgbClr val="0F6B73"/>
                </a:solidFill>
                <a:latin typeface="Calibri" pitchFamily="34" charset="0"/>
                <a:ea typeface="Calibri" pitchFamily="34" charset="-122"/>
                <a:cs typeface="Calibri" pitchFamily="34" charset="-120"/>
              </a:rPr>
              <a:t>04</a:t>
            </a:r>
            <a:endParaRPr lang="en-US" sz="1200" dirty="0"/>
          </a:p>
          <a:p>
            <a:pPr indent="0" marL="0">
              <a:spcAft>
                <a:spcPts val="600"/>
              </a:spcAft>
              <a:buNone/>
            </a:pPr>
            <a:r>
              <a:rPr lang="en-US" sz="1600" b="1" dirty="0">
                <a:solidFill>
                  <a:srgbClr val="0B1E2D"/>
                </a:solidFill>
                <a:latin typeface="Calibri" pitchFamily="34" charset="0"/>
                <a:ea typeface="Calibri" pitchFamily="34" charset="-122"/>
                <a:cs typeface="Calibri" pitchFamily="34" charset="-120"/>
              </a:rPr>
              <a:t>Alarm tracker</a:t>
            </a:r>
            <a:endParaRPr lang="en-US" sz="1200" dirty="0"/>
          </a:p>
          <a:p>
            <a:pPr indent="0" marL="0">
              <a:buNone/>
            </a:pPr>
            <a:r>
              <a:rPr lang="en-US" sz="1300" dirty="0">
                <a:solidFill>
                  <a:srgbClr val="334A5E"/>
                </a:solidFill>
                <a:latin typeface="Calibri" pitchFamily="34" charset="0"/>
                <a:ea typeface="Calibri" pitchFamily="34" charset="-122"/>
                <a:cs typeface="Calibri" pitchFamily="34" charset="-120"/>
              </a:rPr>
              <a:t>N of M frames, an instant path and a short hold</a:t>
            </a:r>
            <a:endParaRPr lang="en-US" sz="1200" dirty="0"/>
          </a:p>
        </p:txBody>
      </p:sp>
      <p:sp>
        <p:nvSpPr>
          <p:cNvPr id="11" name="a2_7_f"/>
          <p:cNvSpPr/>
          <p:nvPr/>
        </p:nvSpPr>
        <p:spPr>
          <a:xfrm>
            <a:off x="9220200" y="2832100"/>
            <a:ext cx="304800" cy="177800"/>
          </a:xfrm>
          <a:prstGeom prst="rightArrow">
            <a:avLst/>
          </a:prstGeom>
          <a:solidFill>
            <a:srgbClr val="4A5F6F"/>
          </a:solidFill>
          <a:ln w="12700">
            <a:solidFill>
              <a:srgbClr val="4A5F6F"/>
            </a:solidFill>
            <a:prstDash val="solid"/>
          </a:ln>
        </p:spPr>
      </p:sp>
      <p:sp>
        <p:nvSpPr>
          <p:cNvPr id="12" name="a2_8_w"/>
          <p:cNvSpPr txBox="1"/>
          <p:nvPr/>
        </p:nvSpPr>
        <p:spPr>
          <a:xfrm>
            <a:off x="9550400" y="1968500"/>
            <a:ext cx="1828800" cy="19050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600"/>
              </a:spcAft>
              <a:buNone/>
            </a:pPr>
            <a:r>
              <a:rPr lang="en-US" sz="1200" b="1" dirty="0">
                <a:solidFill>
                  <a:srgbClr val="0F6B73"/>
                </a:solidFill>
                <a:latin typeface="Calibri" pitchFamily="34" charset="0"/>
                <a:ea typeface="Calibri" pitchFamily="34" charset="-122"/>
                <a:cs typeface="Calibri" pitchFamily="34" charset="-120"/>
              </a:rPr>
              <a:t>05</a:t>
            </a:r>
            <a:endParaRPr lang="en-US" sz="1200" dirty="0"/>
          </a:p>
          <a:p>
            <a:pPr indent="0" marL="0">
              <a:spcAft>
                <a:spcPts val="600"/>
              </a:spcAft>
              <a:buNone/>
            </a:pPr>
            <a:r>
              <a:rPr lang="en-US" sz="1600" b="1" dirty="0">
                <a:solidFill>
                  <a:srgbClr val="0B1E2D"/>
                </a:solidFill>
                <a:latin typeface="Calibri" pitchFamily="34" charset="0"/>
                <a:ea typeface="Calibri" pitchFamily="34" charset="-122"/>
                <a:cs typeface="Calibri" pitchFamily="34" charset="-120"/>
              </a:rPr>
              <a:t>Incidents</a:t>
            </a:r>
            <a:endParaRPr lang="en-US" sz="1200" dirty="0"/>
          </a:p>
          <a:p>
            <a:pPr indent="0" marL="0">
              <a:buNone/>
            </a:pPr>
            <a:r>
              <a:rPr lang="en-US" sz="1300" dirty="0">
                <a:solidFill>
                  <a:srgbClr val="334A5E"/>
                </a:solidFill>
                <a:latin typeface="Calibri" pitchFamily="34" charset="0"/>
                <a:ea typeface="Calibri" pitchFamily="34" charset="-122"/>
                <a:cs typeface="Calibri" pitchFamily="34" charset="-120"/>
              </a:rPr>
              <a:t>One per episode, with snapshot, duration and review</a:t>
            </a:r>
            <a:endParaRPr lang="en-US" sz="1200" dirty="0"/>
          </a:p>
        </p:txBody>
      </p:sp>
      <p:sp>
        <p:nvSpPr>
          <p:cNvPr id="13" name="a3_0_w"/>
          <p:cNvSpPr txBox="1"/>
          <p:nvPr/>
        </p:nvSpPr>
        <p:spPr>
          <a:xfrm>
            <a:off x="812800" y="4191000"/>
            <a:ext cx="10566400" cy="317500"/>
          </a:xfrm>
          <a:prstGeom prst="rect">
            <a:avLst/>
          </a:prstGeom>
          <a:noFill/>
          <a:ln/>
        </p:spPr>
        <p:txBody>
          <a:bodyPr wrap="square" lIns="0" tIns="0" rIns="0" bIns="0" rtlCol="0" anchor="t"/>
          <a:lstStyle/>
          <a:p>
            <a:pPr indent="0" marL="0">
              <a:buNone/>
            </a:pPr>
            <a:r>
              <a:rPr lang="en-US" sz="1400" dirty="0">
                <a:solidFill>
                  <a:srgbClr val="334A5E"/>
                </a:solidFill>
                <a:latin typeface="Calibri" pitchFamily="34" charset="0"/>
                <a:ea typeface="Calibri" pitchFamily="34" charset="-122"/>
                <a:cs typeface="Calibri" pitchFamily="34" charset="-120"/>
              </a:rPr>
              <a:t>The dashboard receives camera states and alerts over a live WebSocket, and data over REST.</a:t>
            </a:r>
            <a:endParaRPr lang="en-US" sz="1400" dirty="0"/>
          </a:p>
        </p:txBody>
      </p:sp>
      <p:sp>
        <p:nvSpPr>
          <p:cNvPr id="14" name="a4_0_w"/>
          <p:cNvSpPr txBox="1"/>
          <p:nvPr/>
        </p:nvSpPr>
        <p:spPr>
          <a:xfrm>
            <a:off x="812800" y="4699000"/>
            <a:ext cx="971550" cy="355600"/>
          </a:xfrm>
          <a:prstGeom prst="rect">
            <a:avLst/>
          </a:prstGeom>
          <a:solidFill>
            <a:srgbClr val="FFFFFF"/>
          </a:solidFill>
          <a:ln w="12700">
            <a:solidFill>
              <a:srgbClr val="D0DDE7"/>
            </a:solidFill>
          </a:ln>
        </p:spPr>
        <p:txBody>
          <a:bodyPr wrap="square" lIns="0" tIns="0" rIns="0" bIns="0" rtlCol="0" anchor="ctr"/>
          <a:lstStyle/>
          <a:p>
            <a:pPr algn="ctr" indent="0" marL="0">
              <a:buNone/>
            </a:pPr>
            <a:r>
              <a:rPr lang="en-US" sz="1300" dirty="0">
                <a:solidFill>
                  <a:srgbClr val="0B1E2D"/>
                </a:solidFill>
                <a:latin typeface="Calibri" pitchFamily="34" charset="0"/>
                <a:ea typeface="Calibri" pitchFamily="34" charset="-122"/>
                <a:cs typeface="Calibri" pitchFamily="34" charset="-120"/>
              </a:rPr>
              <a:t>FastAPI</a:t>
            </a:r>
            <a:endParaRPr lang="en-US" sz="1300" dirty="0"/>
          </a:p>
        </p:txBody>
      </p:sp>
      <p:sp>
        <p:nvSpPr>
          <p:cNvPr id="15" name="a4_1_w"/>
          <p:cNvSpPr txBox="1"/>
          <p:nvPr/>
        </p:nvSpPr>
        <p:spPr>
          <a:xfrm>
            <a:off x="1885950" y="4699000"/>
            <a:ext cx="2019300" cy="355600"/>
          </a:xfrm>
          <a:prstGeom prst="rect">
            <a:avLst/>
          </a:prstGeom>
          <a:solidFill>
            <a:srgbClr val="FFFFFF"/>
          </a:solidFill>
          <a:ln w="12700">
            <a:solidFill>
              <a:srgbClr val="D0DDE7"/>
            </a:solidFill>
          </a:ln>
        </p:spPr>
        <p:txBody>
          <a:bodyPr wrap="square" lIns="0" tIns="0" rIns="0" bIns="0" rtlCol="0" anchor="ctr"/>
          <a:lstStyle/>
          <a:p>
            <a:pPr algn="ctr" indent="0" marL="0">
              <a:buNone/>
            </a:pPr>
            <a:r>
              <a:rPr lang="en-US" sz="1300" dirty="0">
                <a:solidFill>
                  <a:srgbClr val="0B1E2D"/>
                </a:solidFill>
                <a:latin typeface="Calibri" pitchFamily="34" charset="0"/>
                <a:ea typeface="Calibri" pitchFamily="34" charset="-122"/>
                <a:cs typeface="Calibri" pitchFamily="34" charset="-120"/>
              </a:rPr>
              <a:t>Ultralytics YOLO11</a:t>
            </a:r>
            <a:endParaRPr lang="en-US" sz="1300" dirty="0"/>
          </a:p>
        </p:txBody>
      </p:sp>
      <p:sp>
        <p:nvSpPr>
          <p:cNvPr id="16" name="a4_2_w"/>
          <p:cNvSpPr txBox="1"/>
          <p:nvPr/>
        </p:nvSpPr>
        <p:spPr>
          <a:xfrm>
            <a:off x="4006850" y="4699000"/>
            <a:ext cx="876300" cy="355600"/>
          </a:xfrm>
          <a:prstGeom prst="rect">
            <a:avLst/>
          </a:prstGeom>
          <a:solidFill>
            <a:srgbClr val="FFFFFF"/>
          </a:solidFill>
          <a:ln w="12700">
            <a:solidFill>
              <a:srgbClr val="D0DDE7"/>
            </a:solidFill>
          </a:ln>
        </p:spPr>
        <p:txBody>
          <a:bodyPr wrap="square" lIns="0" tIns="0" rIns="0" bIns="0" rtlCol="0" anchor="ctr"/>
          <a:lstStyle/>
          <a:p>
            <a:pPr algn="ctr" indent="0" marL="0">
              <a:buNone/>
            </a:pPr>
            <a:r>
              <a:rPr lang="en-US" sz="1300" dirty="0">
                <a:solidFill>
                  <a:srgbClr val="0B1E2D"/>
                </a:solidFill>
                <a:latin typeface="Calibri" pitchFamily="34" charset="0"/>
                <a:ea typeface="Calibri" pitchFamily="34" charset="-122"/>
                <a:cs typeface="Calibri" pitchFamily="34" charset="-120"/>
              </a:rPr>
              <a:t>OpenCV</a:t>
            </a:r>
            <a:endParaRPr lang="en-US" sz="1300" dirty="0"/>
          </a:p>
        </p:txBody>
      </p:sp>
      <p:sp>
        <p:nvSpPr>
          <p:cNvPr id="17" name="a4_3_w"/>
          <p:cNvSpPr txBox="1"/>
          <p:nvPr/>
        </p:nvSpPr>
        <p:spPr>
          <a:xfrm>
            <a:off x="4984750" y="4699000"/>
            <a:ext cx="876300" cy="355600"/>
          </a:xfrm>
          <a:prstGeom prst="rect">
            <a:avLst/>
          </a:prstGeom>
          <a:solidFill>
            <a:srgbClr val="FFFFFF"/>
          </a:solidFill>
          <a:ln w="12700">
            <a:solidFill>
              <a:srgbClr val="D0DDE7"/>
            </a:solidFill>
          </a:ln>
        </p:spPr>
        <p:txBody>
          <a:bodyPr wrap="square" lIns="0" tIns="0" rIns="0" bIns="0" rtlCol="0" anchor="ctr"/>
          <a:lstStyle/>
          <a:p>
            <a:pPr algn="ctr" indent="0" marL="0">
              <a:buNone/>
            </a:pPr>
            <a:r>
              <a:rPr lang="en-US" sz="1300" dirty="0">
                <a:solidFill>
                  <a:srgbClr val="0B1E2D"/>
                </a:solidFill>
                <a:latin typeface="Calibri" pitchFamily="34" charset="0"/>
                <a:ea typeface="Calibri" pitchFamily="34" charset="-122"/>
                <a:cs typeface="Calibri" pitchFamily="34" charset="-120"/>
              </a:rPr>
              <a:t>SQLite</a:t>
            </a:r>
            <a:endParaRPr lang="en-US" sz="1300" dirty="0"/>
          </a:p>
        </p:txBody>
      </p:sp>
      <p:sp>
        <p:nvSpPr>
          <p:cNvPr id="18" name="a4_4_w"/>
          <p:cNvSpPr txBox="1"/>
          <p:nvPr/>
        </p:nvSpPr>
        <p:spPr>
          <a:xfrm>
            <a:off x="5962650" y="4699000"/>
            <a:ext cx="781050" cy="355600"/>
          </a:xfrm>
          <a:prstGeom prst="rect">
            <a:avLst/>
          </a:prstGeom>
          <a:solidFill>
            <a:srgbClr val="FFFFFF"/>
          </a:solidFill>
          <a:ln w="12700">
            <a:solidFill>
              <a:srgbClr val="D0DDE7"/>
            </a:solidFill>
          </a:ln>
        </p:spPr>
        <p:txBody>
          <a:bodyPr wrap="square" lIns="0" tIns="0" rIns="0" bIns="0" rtlCol="0" anchor="ctr"/>
          <a:lstStyle/>
          <a:p>
            <a:pPr algn="ctr" indent="0" marL="0">
              <a:buNone/>
            </a:pPr>
            <a:r>
              <a:rPr lang="en-US" sz="1300" dirty="0">
                <a:solidFill>
                  <a:srgbClr val="0B1E2D"/>
                </a:solidFill>
                <a:latin typeface="Calibri" pitchFamily="34" charset="0"/>
                <a:ea typeface="Calibri" pitchFamily="34" charset="-122"/>
                <a:cs typeface="Calibri" pitchFamily="34" charset="-120"/>
              </a:rPr>
              <a:t>React</a:t>
            </a:r>
            <a:endParaRPr lang="en-US" sz="1300" dirty="0"/>
          </a:p>
        </p:txBody>
      </p:sp>
      <p:sp>
        <p:nvSpPr>
          <p:cNvPr id="19" name="a4_5_w"/>
          <p:cNvSpPr txBox="1"/>
          <p:nvPr/>
        </p:nvSpPr>
        <p:spPr>
          <a:xfrm>
            <a:off x="6845300" y="4699000"/>
            <a:ext cx="1257300" cy="355600"/>
          </a:xfrm>
          <a:prstGeom prst="rect">
            <a:avLst/>
          </a:prstGeom>
          <a:solidFill>
            <a:srgbClr val="FFFFFF"/>
          </a:solidFill>
          <a:ln w="12700">
            <a:solidFill>
              <a:srgbClr val="D0DDE7"/>
            </a:solidFill>
          </a:ln>
        </p:spPr>
        <p:txBody>
          <a:bodyPr wrap="square" lIns="0" tIns="0" rIns="0" bIns="0" rtlCol="0" anchor="ctr"/>
          <a:lstStyle/>
          <a:p>
            <a:pPr algn="ctr" indent="0" marL="0">
              <a:buNone/>
            </a:pPr>
            <a:r>
              <a:rPr lang="en-US" sz="1300" dirty="0">
                <a:solidFill>
                  <a:srgbClr val="0B1E2D"/>
                </a:solidFill>
                <a:latin typeface="Calibri" pitchFamily="34" charset="0"/>
                <a:ea typeface="Calibri" pitchFamily="34" charset="-122"/>
                <a:cs typeface="Calibri" pitchFamily="34" charset="-120"/>
              </a:rPr>
              <a:t>TypeScript</a:t>
            </a:r>
            <a:endParaRPr lang="en-US" sz="1300" dirty="0"/>
          </a:p>
        </p:txBody>
      </p:sp>
      <p:sp>
        <p:nvSpPr>
          <p:cNvPr id="20" name="a4_6_w"/>
          <p:cNvSpPr txBox="1"/>
          <p:nvPr/>
        </p:nvSpPr>
        <p:spPr>
          <a:xfrm>
            <a:off x="8204200" y="4699000"/>
            <a:ext cx="1447800" cy="355600"/>
          </a:xfrm>
          <a:prstGeom prst="rect">
            <a:avLst/>
          </a:prstGeom>
          <a:solidFill>
            <a:srgbClr val="FFFFFF"/>
          </a:solidFill>
          <a:ln w="12700">
            <a:solidFill>
              <a:srgbClr val="D0DDE7"/>
            </a:solidFill>
          </a:ln>
        </p:spPr>
        <p:txBody>
          <a:bodyPr wrap="square" lIns="0" tIns="0" rIns="0" bIns="0" rtlCol="0" anchor="ctr"/>
          <a:lstStyle/>
          <a:p>
            <a:pPr algn="ctr" indent="0" marL="0">
              <a:buNone/>
            </a:pPr>
            <a:r>
              <a:rPr lang="en-US" sz="1300" dirty="0">
                <a:solidFill>
                  <a:srgbClr val="0B1E2D"/>
                </a:solidFill>
                <a:latin typeface="Calibri" pitchFamily="34" charset="0"/>
                <a:ea typeface="Calibri" pitchFamily="34" charset="-122"/>
                <a:cs typeface="Calibri" pitchFamily="34" charset="-120"/>
              </a:rPr>
              <a:t>Tailwind CSS</a:t>
            </a:r>
            <a:endParaRPr lang="en-US" sz="1300" dirty="0"/>
          </a:p>
        </p:txBody>
      </p:sp>
      <p:sp>
        <p:nvSpPr>
          <p:cNvPr id="21" name="footer-note"/>
          <p:cNvSpPr txBox="1"/>
          <p:nvPr/>
        </p:nvSpPr>
        <p:spPr>
          <a:xfrm>
            <a:off x="812800" y="6261100"/>
            <a:ext cx="8890000" cy="215900"/>
          </a:xfrm>
          <a:prstGeom prst="rect">
            <a:avLst/>
          </a:prstGeom>
          <a:noFill/>
          <a:ln/>
        </p:spPr>
        <p:txBody>
          <a:bodyPr wrap="square" lIns="0" tIns="0" rIns="0" bIns="0" rtlCol="0" anchor="t"/>
          <a:lstStyle/>
          <a:p>
            <a:pPr indent="0" marL="0">
              <a:buNone/>
            </a:pPr>
            <a:r>
              <a:rPr lang="en-US" sz="1200" dirty="0">
                <a:solidFill>
                  <a:srgbClr val="4A5F6F"/>
                </a:solidFill>
                <a:latin typeface="Calibri" pitchFamily="34" charset="0"/>
                <a:ea typeface="Calibri" pitchFamily="34" charset="-122"/>
                <a:cs typeface="Calibri" pitchFamily="34" charset="-120"/>
              </a:rPr>
              <a:t>SmokeShield · Computer Vision project</a:t>
            </a:r>
            <a:endParaRPr lang="en-US" sz="1200" dirty="0"/>
          </a:p>
        </p:txBody>
      </p:sp>
      <p:sp>
        <p:nvSpPr>
          <p:cNvPr id="22" name="footer-page"/>
          <p:cNvSpPr txBox="1"/>
          <p:nvPr/>
        </p:nvSpPr>
        <p:spPr>
          <a:xfrm>
            <a:off x="10109200" y="6261100"/>
            <a:ext cx="1270000" cy="215900"/>
          </a:xfrm>
          <a:prstGeom prst="rect">
            <a:avLst/>
          </a:prstGeom>
          <a:noFill/>
          <a:ln/>
        </p:spPr>
        <p:txBody>
          <a:bodyPr wrap="square" lIns="0" tIns="0" rIns="0" bIns="0" rtlCol="0" anchor="t"/>
          <a:lstStyle/>
          <a:p>
            <a:pPr algn="r" indent="0" marL="0">
              <a:buNone/>
            </a:pPr>
            <a:r>
              <a:rPr lang="en-US" sz="1200" dirty="0">
                <a:solidFill>
                  <a:srgbClr val="4A5F6F"/>
                </a:solidFill>
                <a:latin typeface="Calibri" pitchFamily="34" charset="0"/>
                <a:ea typeface="Calibri" pitchFamily="34" charset="-122"/>
                <a:cs typeface="Calibri" pitchFamily="34" charset="-120"/>
              </a:rPr>
              <a:t>3 / 7</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par>
                          <p:cTn id="39" fill="hold">
                            <p:stCondLst>
                              <p:cond delay="710"/>
                            </p:stCondLst>
                            <p:childTnLst>
                              <p:par>
                                <p:cTn id="12" presetID="22" presetClass="entr" presetSubtype="4"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450"/>
                                        <p:tgtEl>
                                          <p:spTgt spid="4"/>
                                        </p:tgtEl>
                                      </p:cBhvr>
                                    </p:animEffect>
                                  </p:childTnLst>
                                </p:cTn>
                              </p:par>
                              <p:par>
                                <p:cTn id="15" presetID="10" presetClass="entr" presetSubtype="0" fill="hold" grpId="0" nodeType="withEffect">
                                  <p:stCondLst>
                                    <p:cond delay="14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50"/>
                                        <p:tgtEl>
                                          <p:spTgt spid="5"/>
                                        </p:tgtEl>
                                      </p:cBhvr>
                                    </p:animEffect>
                                  </p:childTnLst>
                                </p:cTn>
                              </p:par>
                              <p:par>
                                <p:cTn id="18" presetID="22" presetClass="entr" presetSubtype="4" fill="hold" grpId="0" nodeType="withEffect">
                                  <p:stCondLst>
                                    <p:cond delay="28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450"/>
                                        <p:tgtEl>
                                          <p:spTgt spid="6"/>
                                        </p:tgtEl>
                                      </p:cBhvr>
                                    </p:animEffect>
                                  </p:childTnLst>
                                </p:cTn>
                              </p:par>
                              <p:par>
                                <p:cTn id="21" presetID="10" presetClass="entr" presetSubtype="0" fill="hold" grpId="0" nodeType="withEffect">
                                  <p:stCondLst>
                                    <p:cond delay="42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450"/>
                                        <p:tgtEl>
                                          <p:spTgt spid="7"/>
                                        </p:tgtEl>
                                      </p:cBhvr>
                                    </p:animEffect>
                                  </p:childTnLst>
                                </p:cTn>
                              </p:par>
                              <p:par>
                                <p:cTn id="24" presetID="22" presetClass="entr" presetSubtype="4" fill="hold" grpId="0" nodeType="withEffect">
                                  <p:stCondLst>
                                    <p:cond delay="56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450"/>
                                        <p:tgtEl>
                                          <p:spTgt spid="8"/>
                                        </p:tgtEl>
                                      </p:cBhvr>
                                    </p:animEffect>
                                  </p:childTnLst>
                                </p:cTn>
                              </p:par>
                              <p:par>
                                <p:cTn id="27" presetID="10" presetClass="entr" presetSubtype="0" fill="hold" grpId="0" nodeType="withEffect">
                                  <p:stCondLst>
                                    <p:cond delay="7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50"/>
                                        <p:tgtEl>
                                          <p:spTgt spid="9"/>
                                        </p:tgtEl>
                                      </p:cBhvr>
                                    </p:animEffect>
                                  </p:childTnLst>
                                </p:cTn>
                              </p:par>
                              <p:par>
                                <p:cTn id="30" presetID="22" presetClass="entr" presetSubtype="4" fill="hold" grpId="0" nodeType="withEffect">
                                  <p:stCondLst>
                                    <p:cond delay="84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450"/>
                                        <p:tgtEl>
                                          <p:spTgt spid="10"/>
                                        </p:tgtEl>
                                      </p:cBhvr>
                                    </p:animEffect>
                                  </p:childTnLst>
                                </p:cTn>
                              </p:par>
                              <p:par>
                                <p:cTn id="33" presetID="10" presetClass="entr" presetSubtype="0" fill="hold" grpId="0" nodeType="withEffect">
                                  <p:stCondLst>
                                    <p:cond delay="98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childTnLst>
                                </p:cTn>
                              </p:par>
                              <p:par>
                                <p:cTn id="36" presetID="22" presetClass="entr" presetSubtype="4" fill="hold" grpId="0" nodeType="withEffect">
                                  <p:stCondLst>
                                    <p:cond delay="112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450"/>
                                        <p:tgtEl>
                                          <p:spTgt spid="12"/>
                                        </p:tgtEl>
                                      </p:cBhvr>
                                    </p:animEffect>
                                  </p:childTnLst>
                                </p:cTn>
                              </p:par>
                            </p:childTnLst>
                          </p:cTn>
                        </p:par>
                        <p:par>
                          <p:cTn id="43" fill="hold">
                            <p:stCondLst>
                              <p:cond delay="2400"/>
                            </p:stCondLst>
                            <p:childTnLst>
                              <p:par>
                                <p:cTn id="40" presetID="22" presetClass="entr" presetSubtype="4" fill="hold" grpId="0" nodeType="after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450"/>
                                        <p:tgtEl>
                                          <p:spTgt spid="13"/>
                                        </p:tgtEl>
                                      </p:cBhvr>
                                    </p:animEffect>
                                  </p:childTnLst>
                                </p:cTn>
                              </p:par>
                            </p:childTnLst>
                          </p:cTn>
                        </p:par>
                        <p:par>
                          <p:cTn id="65" fill="hold">
                            <p:stCondLst>
                              <p:cond delay="2970"/>
                            </p:stCondLst>
                            <p:childTnLst>
                              <p:par>
                                <p:cTn id="44" presetID="22" presetClass="entr" presetSubtype="4" fill="hold" grpId="0" nodeType="after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down)">
                                      <p:cBhvr>
                                        <p:cTn id="46" dur="450"/>
                                        <p:tgtEl>
                                          <p:spTgt spid="14"/>
                                        </p:tgtEl>
                                      </p:cBhvr>
                                    </p:animEffect>
                                  </p:childTnLst>
                                </p:cTn>
                              </p:par>
                              <p:par>
                                <p:cTn id="47" presetID="22" presetClass="entr" presetSubtype="4" fill="hold" grpId="0" nodeType="withEffect">
                                  <p:stCondLst>
                                    <p:cond delay="140"/>
                                  </p:stCondLst>
                                  <p:childTnLst>
                                    <p:set>
                                      <p:cBhvr>
                                        <p:cTn id="48" dur="1" fill="hold">
                                          <p:stCondLst>
                                            <p:cond delay="0"/>
                                          </p:stCondLst>
                                        </p:cTn>
                                        <p:tgtEl>
                                          <p:spTgt spid="15"/>
                                        </p:tgtEl>
                                        <p:attrNameLst>
                                          <p:attrName>style.visibility</p:attrName>
                                        </p:attrNameLst>
                                      </p:cBhvr>
                                      <p:to>
                                        <p:strVal val="visible"/>
                                      </p:to>
                                    </p:set>
                                    <p:animEffect transition="in" filter="wipe(down)">
                                      <p:cBhvr>
                                        <p:cTn id="49" dur="450"/>
                                        <p:tgtEl>
                                          <p:spTgt spid="15"/>
                                        </p:tgtEl>
                                      </p:cBhvr>
                                    </p:animEffect>
                                  </p:childTnLst>
                                </p:cTn>
                              </p:par>
                              <p:par>
                                <p:cTn id="50" presetID="22" presetClass="entr" presetSubtype="4" fill="hold" grpId="0" nodeType="withEffect">
                                  <p:stCondLst>
                                    <p:cond delay="280"/>
                                  </p:stCondLst>
                                  <p:childTnLst>
                                    <p:set>
                                      <p:cBhvr>
                                        <p:cTn id="51" dur="1" fill="hold">
                                          <p:stCondLst>
                                            <p:cond delay="0"/>
                                          </p:stCondLst>
                                        </p:cTn>
                                        <p:tgtEl>
                                          <p:spTgt spid="16"/>
                                        </p:tgtEl>
                                        <p:attrNameLst>
                                          <p:attrName>style.visibility</p:attrName>
                                        </p:attrNameLst>
                                      </p:cBhvr>
                                      <p:to>
                                        <p:strVal val="visible"/>
                                      </p:to>
                                    </p:set>
                                    <p:animEffect transition="in" filter="wipe(down)">
                                      <p:cBhvr>
                                        <p:cTn id="52" dur="450"/>
                                        <p:tgtEl>
                                          <p:spTgt spid="16"/>
                                        </p:tgtEl>
                                      </p:cBhvr>
                                    </p:animEffect>
                                  </p:childTnLst>
                                </p:cTn>
                              </p:par>
                              <p:par>
                                <p:cTn id="53" presetID="22" presetClass="entr" presetSubtype="4" fill="hold" grpId="0" nodeType="withEffect">
                                  <p:stCondLst>
                                    <p:cond delay="420"/>
                                  </p:stCondLst>
                                  <p:childTnLst>
                                    <p:set>
                                      <p:cBhvr>
                                        <p:cTn id="54" dur="1" fill="hold">
                                          <p:stCondLst>
                                            <p:cond delay="0"/>
                                          </p:stCondLst>
                                        </p:cTn>
                                        <p:tgtEl>
                                          <p:spTgt spid="17"/>
                                        </p:tgtEl>
                                        <p:attrNameLst>
                                          <p:attrName>style.visibility</p:attrName>
                                        </p:attrNameLst>
                                      </p:cBhvr>
                                      <p:to>
                                        <p:strVal val="visible"/>
                                      </p:to>
                                    </p:set>
                                    <p:animEffect transition="in" filter="wipe(down)">
                                      <p:cBhvr>
                                        <p:cTn id="55" dur="450"/>
                                        <p:tgtEl>
                                          <p:spTgt spid="17"/>
                                        </p:tgtEl>
                                      </p:cBhvr>
                                    </p:animEffect>
                                  </p:childTnLst>
                                </p:cTn>
                              </p:par>
                              <p:par>
                                <p:cTn id="56" presetID="22" presetClass="entr" presetSubtype="4" fill="hold" grpId="0" nodeType="withEffect">
                                  <p:stCondLst>
                                    <p:cond delay="560"/>
                                  </p:stCondLst>
                                  <p:childTnLst>
                                    <p:set>
                                      <p:cBhvr>
                                        <p:cTn id="57" dur="1" fill="hold">
                                          <p:stCondLst>
                                            <p:cond delay="0"/>
                                          </p:stCondLst>
                                        </p:cTn>
                                        <p:tgtEl>
                                          <p:spTgt spid="18"/>
                                        </p:tgtEl>
                                        <p:attrNameLst>
                                          <p:attrName>style.visibility</p:attrName>
                                        </p:attrNameLst>
                                      </p:cBhvr>
                                      <p:to>
                                        <p:strVal val="visible"/>
                                      </p:to>
                                    </p:set>
                                    <p:animEffect transition="in" filter="wipe(down)">
                                      <p:cBhvr>
                                        <p:cTn id="58" dur="450"/>
                                        <p:tgtEl>
                                          <p:spTgt spid="18"/>
                                        </p:tgtEl>
                                      </p:cBhvr>
                                    </p:animEffect>
                                  </p:childTnLst>
                                </p:cTn>
                              </p:par>
                              <p:par>
                                <p:cTn id="59" presetID="22" presetClass="entr" presetSubtype="4" fill="hold" grpId="0" nodeType="withEffect">
                                  <p:stCondLst>
                                    <p:cond delay="700"/>
                                  </p:stCondLst>
                                  <p:childTnLst>
                                    <p:set>
                                      <p:cBhvr>
                                        <p:cTn id="60" dur="1" fill="hold">
                                          <p:stCondLst>
                                            <p:cond delay="0"/>
                                          </p:stCondLst>
                                        </p:cTn>
                                        <p:tgtEl>
                                          <p:spTgt spid="19"/>
                                        </p:tgtEl>
                                        <p:attrNameLst>
                                          <p:attrName>style.visibility</p:attrName>
                                        </p:attrNameLst>
                                      </p:cBhvr>
                                      <p:to>
                                        <p:strVal val="visible"/>
                                      </p:to>
                                    </p:set>
                                    <p:animEffect transition="in" filter="wipe(down)">
                                      <p:cBhvr>
                                        <p:cTn id="61" dur="450"/>
                                        <p:tgtEl>
                                          <p:spTgt spid="19"/>
                                        </p:tgtEl>
                                      </p:cBhvr>
                                    </p:animEffect>
                                  </p:childTnLst>
                                </p:cTn>
                              </p:par>
                              <p:par>
                                <p:cTn id="62" presetID="22" presetClass="entr" presetSubtype="4" fill="hold" grpId="0" nodeType="withEffect">
                                  <p:stCondLst>
                                    <p:cond delay="840"/>
                                  </p:stCondLst>
                                  <p:childTnLst>
                                    <p:set>
                                      <p:cBhvr>
                                        <p:cTn id="63" dur="1" fill="hold">
                                          <p:stCondLst>
                                            <p:cond delay="0"/>
                                          </p:stCondLst>
                                        </p:cTn>
                                        <p:tgtEl>
                                          <p:spTgt spid="20"/>
                                        </p:tgtEl>
                                        <p:attrNameLst>
                                          <p:attrName>style.visibility</p:attrName>
                                        </p:attrNameLst>
                                      </p:cBhvr>
                                      <p:to>
                                        <p:strVal val="visible"/>
                                      </p:to>
                                    </p:set>
                                    <p:animEffect transition="in" filter="wipe(down)">
                                      <p:cBhvr>
                                        <p:cTn id="64"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a1_0_f"/>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200" kern="0" dirty="0">
                <a:solidFill>
                  <a:srgbClr val="0F6B73"/>
                </a:solidFill>
                <a:latin typeface="Calibri" pitchFamily="34" charset="0"/>
                <a:ea typeface="Calibri" pitchFamily="34" charset="-122"/>
                <a:cs typeface="Calibri" pitchFamily="34" charset="-120"/>
              </a:rPr>
              <a:t>EXHIBIT 2 · THE PRODUCT</a:t>
            </a:r>
            <a:endParaRPr lang="en-US" sz="1200" dirty="0"/>
          </a:p>
        </p:txBody>
      </p:sp>
      <p:sp>
        <p:nvSpPr>
          <p:cNvPr id="3" name="a1_1_f"/>
          <p:cNvSpPr txBox="1"/>
          <p:nvPr/>
        </p:nvSpPr>
        <p:spPr>
          <a:xfrm>
            <a:off x="812800" y="1066800"/>
            <a:ext cx="10566400" cy="508000"/>
          </a:xfrm>
          <a:prstGeom prst="rect">
            <a:avLst/>
          </a:prstGeom>
          <a:noFill/>
          <a:ln/>
        </p:spPr>
        <p:txBody>
          <a:bodyPr wrap="square" lIns="0" tIns="0" rIns="0" bIns="0" rtlCol="0" anchor="t"/>
          <a:lstStyle/>
          <a:p>
            <a:pPr indent="0" marL="0">
              <a:buNone/>
            </a:pPr>
            <a:r>
              <a:rPr lang="en-US" sz="2600" b="1" dirty="0">
                <a:solidFill>
                  <a:srgbClr val="0B1E2D"/>
                </a:solidFill>
                <a:latin typeface="Cambria" pitchFamily="34" charset="0"/>
                <a:ea typeface="Cambria" pitchFamily="34" charset="-122"/>
                <a:cs typeface="Cambria" pitchFamily="34" charset="-120"/>
              </a:rPr>
              <a:t>From live camera to reviewed incident in one dashboard</a:t>
            </a:r>
            <a:endParaRPr lang="en-US" sz="2600" dirty="0"/>
          </a:p>
        </p:txBody>
      </p:sp>
      <p:pic>
        <p:nvPicPr>
          <p:cNvPr id="4" name="a2_0_f" descr="SmokeShield Monitor page: a live camera tile with a fire box and a red hazard banner">    </p:cNvPr>
          <p:cNvPicPr>
            <a:picLocks noChangeAspect="1"/>
          </p:cNvPicPr>
          <p:nvPr/>
        </p:nvPicPr>
        <p:blipFill>
          <a:blip r:embed="rId1"/>
          <a:srcRect l="0" r="0" t="0" b="0"/>
          <a:stretch/>
        </p:blipFill>
        <p:spPr>
          <a:xfrm>
            <a:off x="812800" y="1905000"/>
            <a:ext cx="5080000" cy="2781300"/>
          </a:xfrm>
          <a:prstGeom prst="rect">
            <a:avLst/>
          </a:prstGeom>
        </p:spPr>
      </p:pic>
      <p:sp>
        <p:nvSpPr>
          <p:cNvPr id="5" name="a2_1_w"/>
          <p:cNvSpPr txBox="1"/>
          <p:nvPr/>
        </p:nvSpPr>
        <p:spPr>
          <a:xfrm>
            <a:off x="812800" y="4813300"/>
            <a:ext cx="5080000" cy="355600"/>
          </a:xfrm>
          <a:prstGeom prst="rect">
            <a:avLst/>
          </a:prstGeom>
          <a:noFill/>
          <a:ln/>
        </p:spPr>
        <p:txBody>
          <a:bodyPr wrap="square" lIns="0" tIns="0" rIns="0" bIns="0" rtlCol="0" anchor="t"/>
          <a:lstStyle/>
          <a:p>
            <a:pPr indent="0" marL="0">
              <a:buNone/>
            </a:pPr>
            <a:r>
              <a:rPr lang="en-US" sz="1800" b="1" dirty="0">
                <a:solidFill>
                  <a:srgbClr val="0B1E2D"/>
                </a:solidFill>
                <a:latin typeface="Calibri" pitchFamily="34" charset="0"/>
                <a:ea typeface="Calibri" pitchFamily="34" charset="-122"/>
                <a:cs typeface="Calibri" pitchFamily="34" charset="-120"/>
              </a:rPr>
              <a:t>Monitor</a:t>
            </a:r>
            <a:endParaRPr lang="en-US" sz="1800" dirty="0"/>
          </a:p>
        </p:txBody>
      </p:sp>
      <p:sp>
        <p:nvSpPr>
          <p:cNvPr id="6" name="a2_2_w"/>
          <p:cNvSpPr txBox="1"/>
          <p:nvPr/>
        </p:nvSpPr>
        <p:spPr>
          <a:xfrm>
            <a:off x="812800" y="5194300"/>
            <a:ext cx="5080000" cy="444500"/>
          </a:xfrm>
          <a:prstGeom prst="rect">
            <a:avLst/>
          </a:prstGeom>
          <a:noFill/>
          <a:ln/>
        </p:spPr>
        <p:txBody>
          <a:bodyPr wrap="square" lIns="0" tIns="0" rIns="0" bIns="0" rtlCol="0" anchor="t"/>
          <a:lstStyle/>
          <a:p>
            <a:pPr indent="0" marL="0">
              <a:buNone/>
            </a:pPr>
            <a:r>
              <a:rPr lang="en-US" sz="1400" dirty="0">
                <a:solidFill>
                  <a:srgbClr val="334A5E"/>
                </a:solidFill>
                <a:latin typeface="Calibri" pitchFamily="34" charset="0"/>
                <a:ea typeface="Calibri" pitchFamily="34" charset="-122"/>
                <a:cs typeface="Calibri" pitchFamily="34" charset="-120"/>
              </a:rPr>
              <a:t>Live boxes, a verifying state and an instant alarm.</a:t>
            </a:r>
            <a:endParaRPr lang="en-US" sz="1400" dirty="0"/>
          </a:p>
        </p:txBody>
      </p:sp>
      <p:pic>
        <p:nvPicPr>
          <p:cNvPr id="7" name="a3_0_f" descr="SmokeShield Incidents page: alert accuracy, filters and incident cards with snapshots and review buttons">    </p:cNvPr>
          <p:cNvPicPr>
            <a:picLocks noChangeAspect="1"/>
          </p:cNvPicPr>
          <p:nvPr/>
        </p:nvPicPr>
        <p:blipFill>
          <a:blip r:embed="rId2"/>
          <a:srcRect l="0" r="0" t="0" b="0"/>
          <a:stretch/>
        </p:blipFill>
        <p:spPr>
          <a:xfrm>
            <a:off x="6299200" y="1905000"/>
            <a:ext cx="5080000" cy="2781300"/>
          </a:xfrm>
          <a:prstGeom prst="rect">
            <a:avLst/>
          </a:prstGeom>
        </p:spPr>
      </p:pic>
      <p:sp>
        <p:nvSpPr>
          <p:cNvPr id="8" name="a3_1_w"/>
          <p:cNvSpPr txBox="1"/>
          <p:nvPr/>
        </p:nvSpPr>
        <p:spPr>
          <a:xfrm>
            <a:off x="6299200" y="4813300"/>
            <a:ext cx="5080000" cy="355600"/>
          </a:xfrm>
          <a:prstGeom prst="rect">
            <a:avLst/>
          </a:prstGeom>
          <a:noFill/>
          <a:ln/>
        </p:spPr>
        <p:txBody>
          <a:bodyPr wrap="square" lIns="0" tIns="0" rIns="0" bIns="0" rtlCol="0" anchor="t"/>
          <a:lstStyle/>
          <a:p>
            <a:pPr indent="0" marL="0">
              <a:buNone/>
            </a:pPr>
            <a:r>
              <a:rPr lang="en-US" sz="1800" b="1" dirty="0">
                <a:solidFill>
                  <a:srgbClr val="0B1E2D"/>
                </a:solidFill>
                <a:latin typeface="Calibri" pitchFamily="34" charset="0"/>
                <a:ea typeface="Calibri" pitchFamily="34" charset="-122"/>
                <a:cs typeface="Calibri" pitchFamily="34" charset="-120"/>
              </a:rPr>
              <a:t>Incidents</a:t>
            </a:r>
            <a:endParaRPr lang="en-US" sz="1800" dirty="0"/>
          </a:p>
        </p:txBody>
      </p:sp>
      <p:sp>
        <p:nvSpPr>
          <p:cNvPr id="9" name="a3_2_w"/>
          <p:cNvSpPr txBox="1"/>
          <p:nvPr/>
        </p:nvSpPr>
        <p:spPr>
          <a:xfrm>
            <a:off x="6299200" y="5194300"/>
            <a:ext cx="5080000" cy="444500"/>
          </a:xfrm>
          <a:prstGeom prst="rect">
            <a:avLst/>
          </a:prstGeom>
          <a:noFill/>
          <a:ln/>
        </p:spPr>
        <p:txBody>
          <a:bodyPr wrap="square" lIns="0" tIns="0" rIns="0" bIns="0" rtlCol="0" anchor="t"/>
          <a:lstStyle/>
          <a:p>
            <a:pPr indent="0" marL="0">
              <a:buNone/>
            </a:pPr>
            <a:r>
              <a:rPr lang="en-US" sz="1400" dirty="0">
                <a:solidFill>
                  <a:srgbClr val="334A5E"/>
                </a:solidFill>
                <a:latin typeface="Calibri" pitchFamily="34" charset="0"/>
                <a:ea typeface="Calibri" pitchFamily="34" charset="-122"/>
                <a:cs typeface="Calibri" pitchFamily="34" charset="-120"/>
              </a:rPr>
              <a:t>Duration, Real or False alarm review, and a training export.</a:t>
            </a:r>
            <a:endParaRPr lang="en-US" sz="1400" dirty="0"/>
          </a:p>
        </p:txBody>
      </p:sp>
      <p:sp>
        <p:nvSpPr>
          <p:cNvPr id="10" name="footer-note"/>
          <p:cNvSpPr txBox="1"/>
          <p:nvPr/>
        </p:nvSpPr>
        <p:spPr>
          <a:xfrm>
            <a:off x="812800" y="6261100"/>
            <a:ext cx="8890000" cy="215900"/>
          </a:xfrm>
          <a:prstGeom prst="rect">
            <a:avLst/>
          </a:prstGeom>
          <a:noFill/>
          <a:ln/>
        </p:spPr>
        <p:txBody>
          <a:bodyPr wrap="square" lIns="0" tIns="0" rIns="0" bIns="0" rtlCol="0" anchor="t"/>
          <a:lstStyle/>
          <a:p>
            <a:pPr indent="0" marL="0">
              <a:buNone/>
            </a:pPr>
            <a:r>
              <a:rPr lang="en-US" sz="1200" dirty="0">
                <a:solidFill>
                  <a:srgbClr val="4A5F6F"/>
                </a:solidFill>
                <a:latin typeface="Calibri" pitchFamily="34" charset="0"/>
                <a:ea typeface="Calibri" pitchFamily="34" charset="-122"/>
                <a:cs typeface="Calibri" pitchFamily="34" charset="-120"/>
              </a:rPr>
              <a:t>Screenshots from the running system on a CPU-only laptop (Intel i5-9500)</a:t>
            </a:r>
            <a:endParaRPr lang="en-US" sz="1200" dirty="0"/>
          </a:p>
        </p:txBody>
      </p:sp>
      <p:sp>
        <p:nvSpPr>
          <p:cNvPr id="11" name="footer-page"/>
          <p:cNvSpPr txBox="1"/>
          <p:nvPr/>
        </p:nvSpPr>
        <p:spPr>
          <a:xfrm>
            <a:off x="10109200" y="6261100"/>
            <a:ext cx="1270000" cy="215900"/>
          </a:xfrm>
          <a:prstGeom prst="rect">
            <a:avLst/>
          </a:prstGeom>
          <a:noFill/>
          <a:ln/>
        </p:spPr>
        <p:txBody>
          <a:bodyPr wrap="square" lIns="0" tIns="0" rIns="0" bIns="0" rtlCol="0" anchor="t"/>
          <a:lstStyle/>
          <a:p>
            <a:pPr algn="r" indent="0" marL="0">
              <a:buNone/>
            </a:pPr>
            <a:r>
              <a:rPr lang="en-US" sz="1200" dirty="0">
                <a:solidFill>
                  <a:srgbClr val="4A5F6F"/>
                </a:solidFill>
                <a:latin typeface="Calibri" pitchFamily="34" charset="0"/>
                <a:ea typeface="Calibri" pitchFamily="34" charset="-122"/>
                <a:cs typeface="Calibri" pitchFamily="34" charset="-120"/>
              </a:rPr>
              <a:t>4 / 7</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par>
                          <p:cTn id="21" fill="hold">
                            <p:stCondLst>
                              <p:cond delay="710"/>
                            </p:stCondLst>
                            <p:childTnLst>
                              <p:par>
                                <p:cTn id="12" presetID="10" presetClass="entr" presetSubtype="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450"/>
                                        <p:tgtEl>
                                          <p:spTgt spid="4"/>
                                        </p:tgtEl>
                                      </p:cBhvr>
                                    </p:animEffect>
                                  </p:childTnLst>
                                </p:cTn>
                              </p:par>
                              <p:par>
                                <p:cTn id="15" presetID="22" presetClass="entr" presetSubtype="4" fill="hold" grpId="0" nodeType="withEffect">
                                  <p:stCondLst>
                                    <p:cond delay="14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450"/>
                                        <p:tgtEl>
                                          <p:spTgt spid="5"/>
                                        </p:tgtEl>
                                      </p:cBhvr>
                                    </p:animEffect>
                                  </p:childTnLst>
                                </p:cTn>
                              </p:par>
                              <p:par>
                                <p:cTn id="18" presetID="22" presetClass="entr" presetSubtype="4" fill="hold" grpId="0" nodeType="withEffect">
                                  <p:stCondLst>
                                    <p:cond delay="28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450"/>
                                        <p:tgtEl>
                                          <p:spTgt spid="6"/>
                                        </p:tgtEl>
                                      </p:cBhvr>
                                    </p:animEffect>
                                  </p:childTnLst>
                                </p:cTn>
                              </p:par>
                            </p:childTnLst>
                          </p:cTn>
                        </p:par>
                        <p:par>
                          <p:cTn id="31" fill="hold">
                            <p:stCondLst>
                              <p:cond delay="1560"/>
                            </p:stCondLst>
                            <p:childTnLst>
                              <p:par>
                                <p:cTn id="22" presetID="10" presetClass="entr" presetSubtype="0"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50"/>
                                        <p:tgtEl>
                                          <p:spTgt spid="7"/>
                                        </p:tgtEl>
                                      </p:cBhvr>
                                    </p:animEffect>
                                  </p:childTnLst>
                                </p:cTn>
                              </p:par>
                              <p:par>
                                <p:cTn id="25" presetID="22" presetClass="entr" presetSubtype="4" fill="hold" grpId="0" nodeType="withEffect">
                                  <p:stCondLst>
                                    <p:cond delay="14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450"/>
                                        <p:tgtEl>
                                          <p:spTgt spid="8"/>
                                        </p:tgtEl>
                                      </p:cBhvr>
                                    </p:animEffect>
                                  </p:childTnLst>
                                </p:cTn>
                              </p:par>
                              <p:par>
                                <p:cTn id="28" presetID="22" presetClass="entr" presetSubtype="4" fill="hold" grpId="0" nodeType="withEffect">
                                  <p:stCondLst>
                                    <p:cond delay="28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a1_0_f"/>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200" kern="0" dirty="0">
                <a:solidFill>
                  <a:srgbClr val="0F6B73"/>
                </a:solidFill>
                <a:latin typeface="Calibri" pitchFamily="34" charset="0"/>
                <a:ea typeface="Calibri" pitchFamily="34" charset="-122"/>
                <a:cs typeface="Calibri" pitchFamily="34" charset="-120"/>
              </a:rPr>
              <a:t>EXHIBIT 3 · MODEL RESULTS</a:t>
            </a:r>
            <a:endParaRPr lang="en-US" sz="1200" dirty="0"/>
          </a:p>
        </p:txBody>
      </p:sp>
      <p:sp>
        <p:nvSpPr>
          <p:cNvPr id="3" name="a1_1_f"/>
          <p:cNvSpPr txBox="1"/>
          <p:nvPr/>
        </p:nvSpPr>
        <p:spPr>
          <a:xfrm>
            <a:off x="812800" y="1066800"/>
            <a:ext cx="10566400" cy="508000"/>
          </a:xfrm>
          <a:prstGeom prst="rect">
            <a:avLst/>
          </a:prstGeom>
          <a:noFill/>
          <a:ln/>
        </p:spPr>
        <p:txBody>
          <a:bodyPr wrap="square" lIns="0" tIns="0" rIns="0" bIns="0" rtlCol="0" anchor="t"/>
          <a:lstStyle/>
          <a:p>
            <a:pPr indent="0" marL="0">
              <a:buNone/>
            </a:pPr>
            <a:r>
              <a:rPr lang="en-US" sz="2600" b="1" dirty="0">
                <a:solidFill>
                  <a:srgbClr val="0B1E2D"/>
                </a:solidFill>
                <a:latin typeface="Cambria" pitchFamily="34" charset="0"/>
                <a:ea typeface="Cambria" pitchFamily="34" charset="-122"/>
                <a:cs typeface="Cambria" pitchFamily="34" charset="-120"/>
              </a:rPr>
              <a:t>Training on all 14,122 images lifted every metric</a:t>
            </a:r>
            <a:endParaRPr lang="en-US" sz="2600" dirty="0"/>
          </a:p>
        </p:txBody>
      </p:sp>
      <p:sp>
        <p:nvSpPr>
          <p:cNvPr id="4" name="a2_0_w"/>
          <p:cNvSpPr txBox="1"/>
          <p:nvPr/>
        </p:nvSpPr>
        <p:spPr>
          <a:xfrm>
            <a:off x="812800" y="1841500"/>
            <a:ext cx="2667000" cy="889000"/>
          </a:xfrm>
          <a:prstGeom prst="rect">
            <a:avLst/>
          </a:prstGeom>
          <a:noFill/>
          <a:ln/>
        </p:spPr>
        <p:txBody>
          <a:bodyPr wrap="square" lIns="0" tIns="0" rIns="0" bIns="0" rtlCol="0" anchor="t"/>
          <a:lstStyle/>
          <a:p>
            <a:pPr indent="0" marL="0">
              <a:buNone/>
            </a:pPr>
            <a:r>
              <a:rPr lang="en-US" sz="6000" b="1" dirty="0">
                <a:solidFill>
                  <a:srgbClr val="0B1E2D"/>
                </a:solidFill>
                <a:latin typeface="Cambria" pitchFamily="34" charset="0"/>
                <a:ea typeface="Cambria" pitchFamily="34" charset="-122"/>
                <a:cs typeface="Cambria" pitchFamily="34" charset="-120"/>
              </a:rPr>
              <a:t>0.767</a:t>
            </a:r>
            <a:endParaRPr lang="en-US" sz="6000" dirty="0"/>
          </a:p>
        </p:txBody>
      </p:sp>
      <p:sp>
        <p:nvSpPr>
          <p:cNvPr id="5" name="a2_1_w"/>
          <p:cNvSpPr txBox="1"/>
          <p:nvPr/>
        </p:nvSpPr>
        <p:spPr>
          <a:xfrm>
            <a:off x="3175000" y="2095500"/>
            <a:ext cx="3556000" cy="571500"/>
          </a:xfrm>
          <a:prstGeom prst="rect">
            <a:avLst/>
          </a:prstGeom>
          <a:noFill/>
          <a:ln/>
        </p:spPr>
        <p:txBody>
          <a:bodyPr wrap="square" lIns="0" tIns="0" rIns="0" bIns="0" rtlCol="0" anchor="t"/>
          <a:lstStyle/>
          <a:p>
            <a:pPr indent="0" marL="0">
              <a:spcAft>
                <a:spcPts val="400"/>
              </a:spcAft>
              <a:buNone/>
            </a:pPr>
            <a:r>
              <a:rPr lang="en-US" sz="1400" b="1" dirty="0">
                <a:solidFill>
                  <a:srgbClr val="0B1E2D"/>
                </a:solidFill>
                <a:latin typeface="Calibri" pitchFamily="34" charset="0"/>
                <a:ea typeface="Calibri" pitchFamily="34" charset="-122"/>
                <a:cs typeface="Calibri" pitchFamily="34" charset="-120"/>
              </a:rPr>
              <a:t>mAP50 on 4,302 unseen test images</a:t>
            </a:r>
            <a:endParaRPr lang="en-US" sz="1400" dirty="0"/>
          </a:p>
          <a:p>
            <a:pPr indent="0" marL="0">
              <a:buNone/>
            </a:pPr>
            <a:r>
              <a:rPr lang="en-US" sz="1300" dirty="0">
                <a:solidFill>
                  <a:srgbClr val="4A5F6F"/>
                </a:solidFill>
                <a:latin typeface="Calibri" pitchFamily="34" charset="0"/>
                <a:ea typeface="Calibri" pitchFamily="34" charset="-122"/>
                <a:cs typeface="Calibri" pitchFamily="34" charset="-120"/>
              </a:rPr>
              <a:t>up from 0.645 with the first model</a:t>
            </a:r>
            <a:endParaRPr lang="en-US" sz="1400" dirty="0"/>
          </a:p>
        </p:txBody>
      </p:sp>
      <p:graphicFrame>
        <p:nvGraphicFramePr>
          <p:cNvPr id="6" name="a3_0_w"/>
          <p:cNvGraphicFramePr>
            <a:graphicFrameLocks noGrp="1"/>
          </p:cNvGraphicFramePr>
          <p:nvPr>
            <p:extLst>
              <p:ext uri="{D42A27DB-BD31-4B8C-83A1-F6EECF244321}">
                <p14:modId xmlns:p14="http://schemas.microsoft.com/office/powerpoint/2010/main" val="1579011935"/>
              </p:ext>
            </p:extLst>
          </p:nvPr>
        </p:nvGraphicFramePr>
        <p:xfrm>
          <a:off x="812800" y="2857500"/>
          <a:ext cx="5969000" cy="914400"/>
        </p:xfrm>
        <a:graphic>
          <a:graphicData uri="http://schemas.openxmlformats.org/drawingml/2006/table">
            <a:tbl>
              <a:tblPr/>
              <a:tblGrid>
                <a:gridCol w="2984500"/>
                <a:gridCol w="1333500"/>
                <a:gridCol w="1651000"/>
              </a:tblGrid>
              <a:tr h="342900">
                <a:tc>
                  <a:txBody>
                    <a:bodyPr/>
                    <a:lstStyle/>
                    <a:p>
                      <a:pPr algn="l" indent="0" marL="0">
                        <a:buNone/>
                      </a:pPr>
                      <a:r>
                        <a:rPr lang="en-US" sz="1300" b="1" dirty="0">
                          <a:solidFill>
                            <a:srgbClr val="0B1E2D"/>
                          </a:solidFill>
                          <a:latin typeface="Calibri" pitchFamily="34" charset="0"/>
                          <a:ea typeface="Calibri" pitchFamily="34" charset="-122"/>
                          <a:cs typeface="Calibri" pitchFamily="34" charset="-120"/>
                        </a:rPr>
                        <a:t>Measure</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solidFill>
                      <a:srgbClr val="F1F5F8"/>
                    </a:solidFill>
                  </a:tcPr>
                </a:tc>
                <a:tc>
                  <a:txBody>
                    <a:bodyPr/>
                    <a:lstStyle/>
                    <a:p>
                      <a:pPr algn="r" indent="0" marL="0">
                        <a:buNone/>
                      </a:pPr>
                      <a:r>
                        <a:rPr lang="en-US" sz="1300" b="1" dirty="0">
                          <a:solidFill>
                            <a:srgbClr val="0B1E2D"/>
                          </a:solidFill>
                          <a:latin typeface="Calibri" pitchFamily="34" charset="0"/>
                          <a:ea typeface="Calibri" pitchFamily="34" charset="-122"/>
                          <a:cs typeface="Calibri" pitchFamily="34" charset="-120"/>
                        </a:rPr>
                        <a:t>First model</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solidFill>
                      <a:srgbClr val="F1F5F8"/>
                    </a:solidFill>
                  </a:tcPr>
                </a:tc>
                <a:tc>
                  <a:txBody>
                    <a:bodyPr/>
                    <a:lstStyle/>
                    <a:p>
                      <a:pPr algn="r" indent="0" marL="0">
                        <a:buNone/>
                      </a:pPr>
                      <a:r>
                        <a:rPr lang="en-US" sz="1300" b="1" dirty="0">
                          <a:solidFill>
                            <a:srgbClr val="0B1E2D"/>
                          </a:solidFill>
                          <a:latin typeface="Calibri" pitchFamily="34" charset="0"/>
                          <a:ea typeface="Calibri" pitchFamily="34" charset="-122"/>
                          <a:cs typeface="Calibri" pitchFamily="34" charset="-120"/>
                        </a:rPr>
                        <a:t>Current model</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solidFill>
                      <a:srgbClr val="F1F5F8"/>
                    </a:solidFill>
                  </a:tcPr>
                </a:tc>
              </a:tr>
              <a:tr h="342900">
                <a:tc>
                  <a:txBody>
                    <a:bodyPr/>
                    <a:lstStyle/>
                    <a:p>
                      <a:pPr algn="l" indent="0" marL="0">
                        <a:buNone/>
                      </a:pPr>
                      <a:r>
                        <a:rPr lang="en-US" sz="1300" dirty="0">
                          <a:solidFill>
                            <a:srgbClr val="0B1E2D"/>
                          </a:solidFill>
                          <a:latin typeface="Calibri" pitchFamily="34" charset="0"/>
                          <a:ea typeface="Calibri" pitchFamily="34" charset="-122"/>
                          <a:cs typeface="Calibri" pitchFamily="34" charset="-120"/>
                        </a:rPr>
                        <a:t>Overall mAP50</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B1E2D"/>
                          </a:solidFill>
                          <a:latin typeface="Calibri" pitchFamily="34" charset="0"/>
                          <a:ea typeface="Calibri" pitchFamily="34" charset="-122"/>
                          <a:cs typeface="Calibri" pitchFamily="34" charset="-120"/>
                        </a:rPr>
                        <a:t>0.645</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F6B73"/>
                          </a:solidFill>
                          <a:latin typeface="Calibri" pitchFamily="34" charset="0"/>
                          <a:ea typeface="Calibri" pitchFamily="34" charset="-122"/>
                          <a:cs typeface="Calibri" pitchFamily="34" charset="-120"/>
                        </a:rPr>
                        <a:t>0.767</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r>
              <a:tr h="342900">
                <a:tc>
                  <a:txBody>
                    <a:bodyPr/>
                    <a:lstStyle/>
                    <a:p>
                      <a:pPr algn="l" indent="0" marL="0">
                        <a:buNone/>
                      </a:pPr>
                      <a:r>
                        <a:rPr lang="en-US" sz="1300" dirty="0">
                          <a:solidFill>
                            <a:srgbClr val="0B1E2D"/>
                          </a:solidFill>
                          <a:latin typeface="Calibri" pitchFamily="34" charset="0"/>
                          <a:ea typeface="Calibri" pitchFamily="34" charset="-122"/>
                          <a:cs typeface="Calibri" pitchFamily="34" charset="-120"/>
                        </a:rPr>
                        <a:t>Fire recall</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B1E2D"/>
                          </a:solidFill>
                          <a:latin typeface="Calibri" pitchFamily="34" charset="0"/>
                          <a:ea typeface="Calibri" pitchFamily="34" charset="-122"/>
                          <a:cs typeface="Calibri" pitchFamily="34" charset="-120"/>
                        </a:rPr>
                        <a:t>0.482</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F6B73"/>
                          </a:solidFill>
                          <a:latin typeface="Calibri" pitchFamily="34" charset="0"/>
                          <a:ea typeface="Calibri" pitchFamily="34" charset="-122"/>
                          <a:cs typeface="Calibri" pitchFamily="34" charset="-120"/>
                        </a:rPr>
                        <a:t>0.627</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r>
              <a:tr h="342900">
                <a:tc>
                  <a:txBody>
                    <a:bodyPr/>
                    <a:lstStyle/>
                    <a:p>
                      <a:pPr algn="l" indent="0" marL="0">
                        <a:buNone/>
                      </a:pPr>
                      <a:r>
                        <a:rPr lang="en-US" sz="1300" dirty="0">
                          <a:solidFill>
                            <a:srgbClr val="0B1E2D"/>
                          </a:solidFill>
                          <a:latin typeface="Calibri" pitchFamily="34" charset="0"/>
                          <a:ea typeface="Calibri" pitchFamily="34" charset="-122"/>
                          <a:cs typeface="Calibri" pitchFamily="34" charset="-120"/>
                        </a:rPr>
                        <a:t>Smoke recall</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B1E2D"/>
                          </a:solidFill>
                          <a:latin typeface="Calibri" pitchFamily="34" charset="0"/>
                          <a:ea typeface="Calibri" pitchFamily="34" charset="-122"/>
                          <a:cs typeface="Calibri" pitchFamily="34" charset="-120"/>
                        </a:rPr>
                        <a:t>0.673</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F6B73"/>
                          </a:solidFill>
                          <a:latin typeface="Calibri" pitchFamily="34" charset="0"/>
                          <a:ea typeface="Calibri" pitchFamily="34" charset="-122"/>
                          <a:cs typeface="Calibri" pitchFamily="34" charset="-120"/>
                        </a:rPr>
                        <a:t>0.764</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r>
              <a:tr h="342900">
                <a:tc>
                  <a:txBody>
                    <a:bodyPr/>
                    <a:lstStyle/>
                    <a:p>
                      <a:pPr algn="l" indent="0" marL="0">
                        <a:buNone/>
                      </a:pPr>
                      <a:r>
                        <a:rPr lang="en-US" sz="1300" dirty="0">
                          <a:solidFill>
                            <a:srgbClr val="0B1E2D"/>
                          </a:solidFill>
                          <a:latin typeface="Calibri" pitchFamily="34" charset="0"/>
                          <a:ea typeface="Calibri" pitchFamily="34" charset="-122"/>
                          <a:cs typeface="Calibri" pitchFamily="34" charset="-120"/>
                        </a:rPr>
                        <a:t>Fire found (30 photos)</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B1E2D"/>
                          </a:solidFill>
                          <a:latin typeface="Calibri" pitchFamily="34" charset="0"/>
                          <a:ea typeface="Calibri" pitchFamily="34" charset="-122"/>
                          <a:cs typeface="Calibri" pitchFamily="34" charset="-120"/>
                        </a:rPr>
                        <a:t>24 / 30</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F6B73"/>
                          </a:solidFill>
                          <a:latin typeface="Calibri" pitchFamily="34" charset="0"/>
                          <a:ea typeface="Calibri" pitchFamily="34" charset="-122"/>
                          <a:cs typeface="Calibri" pitchFamily="34" charset="-120"/>
                        </a:rPr>
                        <a:t>29 / 30</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r>
              <a:tr h="342900">
                <a:tc>
                  <a:txBody>
                    <a:bodyPr/>
                    <a:lstStyle/>
                    <a:p>
                      <a:pPr algn="l" indent="0" marL="0">
                        <a:buNone/>
                      </a:pPr>
                      <a:r>
                        <a:rPr lang="en-US" sz="1300" dirty="0">
                          <a:solidFill>
                            <a:srgbClr val="0B1E2D"/>
                          </a:solidFill>
                          <a:latin typeface="Calibri" pitchFamily="34" charset="0"/>
                          <a:ea typeface="Calibri" pitchFamily="34" charset="-122"/>
                          <a:cs typeface="Calibri" pitchFamily="34" charset="-120"/>
                        </a:rPr>
                        <a:t>Smoke found (30 photos)</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B1E2D"/>
                          </a:solidFill>
                          <a:latin typeface="Calibri" pitchFamily="34" charset="0"/>
                          <a:ea typeface="Calibri" pitchFamily="34" charset="-122"/>
                          <a:cs typeface="Calibri" pitchFamily="34" charset="-120"/>
                        </a:rPr>
                        <a:t>22 / 30</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F6B73"/>
                          </a:solidFill>
                          <a:latin typeface="Calibri" pitchFamily="34" charset="0"/>
                          <a:ea typeface="Calibri" pitchFamily="34" charset="-122"/>
                          <a:cs typeface="Calibri" pitchFamily="34" charset="-120"/>
                        </a:rPr>
                        <a:t>29 / 30</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r>
              <a:tr h="342900">
                <a:tc>
                  <a:txBody>
                    <a:bodyPr/>
                    <a:lstStyle/>
                    <a:p>
                      <a:pPr algn="l" indent="0" marL="0">
                        <a:buNone/>
                      </a:pPr>
                      <a:r>
                        <a:rPr lang="en-US" sz="1300" dirty="0">
                          <a:solidFill>
                            <a:srgbClr val="0B1E2D"/>
                          </a:solidFill>
                          <a:latin typeface="Calibri" pitchFamily="34" charset="0"/>
                          <a:ea typeface="Calibri" pitchFamily="34" charset="-122"/>
                          <a:cs typeface="Calibri" pitchFamily="34" charset="-120"/>
                        </a:rPr>
                        <a:t>False alarms (30 empty)</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B1E2D"/>
                          </a:solidFill>
                          <a:latin typeface="Calibri" pitchFamily="34" charset="0"/>
                          <a:ea typeface="Calibri" pitchFamily="34" charset="-122"/>
                          <a:cs typeface="Calibri" pitchFamily="34" charset="-120"/>
                        </a:rPr>
                        <a:t>3 / 30</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c>
                  <a:txBody>
                    <a:bodyPr/>
                    <a:lstStyle/>
                    <a:p>
                      <a:pPr algn="r" indent="0" marL="0">
                        <a:buNone/>
                      </a:pPr>
                      <a:r>
                        <a:rPr lang="en-US" sz="1300" dirty="0">
                          <a:solidFill>
                            <a:srgbClr val="0F6B73"/>
                          </a:solidFill>
                          <a:latin typeface="Calibri" pitchFamily="34" charset="0"/>
                          <a:ea typeface="Calibri" pitchFamily="34" charset="-122"/>
                          <a:cs typeface="Calibri" pitchFamily="34" charset="-120"/>
                        </a:rPr>
                        <a:t>1 / 30</a:t>
                      </a:r>
                      <a:endParaRPr lang="en-US" sz="1300" dirty="0">
                        <a:latin typeface="Calibri" charset="0"/>
                        <a:ea typeface="Calibri" charset="0"/>
                        <a:cs typeface="Calibri" charset="0"/>
                      </a:endParaRPr>
                    </a:p>
                  </a:txBody>
                  <a:tcPr marL="91440" marR="91440" marT="45720" marB="45720" anchor="ctr">
                    <a:lnL w="9525" cap="flat" cmpd="sng" algn="ctr">
                      <a:solidFill>
                        <a:srgbClr val="D0DDE7"/>
                      </a:solidFill>
                      <a:prstDash val="solid"/>
                      <a:round/>
                      <a:headEnd type="none" w="med" len="med"/>
                      <a:tailEnd type="none" w="med" len="med"/>
                    </a:lnL>
                    <a:lnR w="9525" cap="flat" cmpd="sng" algn="ctr">
                      <a:solidFill>
                        <a:srgbClr val="D0DDE7"/>
                      </a:solidFill>
                      <a:prstDash val="solid"/>
                      <a:round/>
                      <a:headEnd type="none" w="med" len="med"/>
                      <a:tailEnd type="none" w="med" len="med"/>
                    </a:lnR>
                    <a:lnT w="9525" cap="flat" cmpd="sng" algn="ctr">
                      <a:solidFill>
                        <a:srgbClr val="D0DDE7"/>
                      </a:solidFill>
                      <a:prstDash val="solid"/>
                      <a:round/>
                      <a:headEnd type="none" w="med" len="med"/>
                      <a:tailEnd type="none" w="med" len="med"/>
                    </a:lnT>
                    <a:lnB w="9525" cap="flat" cmpd="sng" algn="ctr">
                      <a:solidFill>
                        <a:srgbClr val="D0DDE7"/>
                      </a:solidFill>
                      <a:prstDash val="solid"/>
                      <a:round/>
                      <a:headEnd type="none" w="med" len="med"/>
                      <a:tailEnd type="none" w="med" len="med"/>
                    </a:lnB>
                  </a:tcPr>
                </a:tc>
              </a:tr>
            </a:tbl>
          </a:graphicData>
        </a:graphic>
      </p:graphicFrame>
      <p:pic>
        <p:nvPicPr>
          <p:cNvPr id="7" name="a4_0_f" descr="SmokeShield Models page: the live model with mAP50 76.7 percent and the earlier model">    </p:cNvPr>
          <p:cNvPicPr>
            <a:picLocks noChangeAspect="1"/>
          </p:cNvPicPr>
          <p:nvPr/>
        </p:nvPicPr>
        <p:blipFill>
          <a:blip r:embed="rId1"/>
          <a:srcRect l="0" r="0" t="0" b="0"/>
          <a:stretch/>
        </p:blipFill>
        <p:spPr>
          <a:xfrm>
            <a:off x="7188200" y="1905000"/>
            <a:ext cx="4191000" cy="2590800"/>
          </a:xfrm>
          <a:prstGeom prst="rect">
            <a:avLst/>
          </a:prstGeom>
        </p:spPr>
      </p:pic>
      <p:sp>
        <p:nvSpPr>
          <p:cNvPr id="8" name="a4_1_w"/>
          <p:cNvSpPr txBox="1"/>
          <p:nvPr/>
        </p:nvSpPr>
        <p:spPr>
          <a:xfrm>
            <a:off x="7188200" y="4622800"/>
            <a:ext cx="4191000" cy="508000"/>
          </a:xfrm>
          <a:prstGeom prst="rect">
            <a:avLst/>
          </a:prstGeom>
          <a:noFill/>
          <a:ln/>
        </p:spPr>
        <p:txBody>
          <a:bodyPr wrap="square" lIns="0" tIns="0" rIns="0" bIns="0" rtlCol="0" anchor="t"/>
          <a:lstStyle/>
          <a:p>
            <a:pPr indent="0" marL="0">
              <a:buNone/>
            </a:pPr>
            <a:r>
              <a:rPr lang="en-US" sz="1300" dirty="0">
                <a:solidFill>
                  <a:srgbClr val="334A5E"/>
                </a:solidFill>
                <a:latin typeface="Calibri" pitchFamily="34" charset="0"/>
                <a:ea typeface="Calibri" pitchFamily="34" charset="-122"/>
                <a:cs typeface="Calibri" pitchFamily="34" charset="-120"/>
              </a:rPr>
              <a:t>Model versions page: compare, switch live, roll back.</a:t>
            </a:r>
            <a:endParaRPr lang="en-US" sz="1300" dirty="0"/>
          </a:p>
        </p:txBody>
      </p:sp>
      <p:sp>
        <p:nvSpPr>
          <p:cNvPr id="9" name="footer-note"/>
          <p:cNvSpPr txBox="1"/>
          <p:nvPr/>
        </p:nvSpPr>
        <p:spPr>
          <a:xfrm>
            <a:off x="812800" y="6261100"/>
            <a:ext cx="8890000" cy="215900"/>
          </a:xfrm>
          <a:prstGeom prst="rect">
            <a:avLst/>
          </a:prstGeom>
          <a:noFill/>
          <a:ln/>
        </p:spPr>
        <p:txBody>
          <a:bodyPr wrap="square" lIns="0" tIns="0" rIns="0" bIns="0" rtlCol="0" anchor="t"/>
          <a:lstStyle/>
          <a:p>
            <a:pPr indent="0" marL="0">
              <a:buNone/>
            </a:pPr>
            <a:r>
              <a:rPr lang="en-US" sz="1200" dirty="0">
                <a:solidFill>
                  <a:srgbClr val="4A5F6F"/>
                </a:solidFill>
                <a:latin typeface="Calibri" pitchFamily="34" charset="0"/>
                <a:ea typeface="Calibri" pitchFamily="34" charset="-122"/>
                <a:cs typeface="Calibri" pitchFamily="34" charset="-120"/>
              </a:rPr>
              <a:t>First model: YOLO11n, 3,000 images, 600-image validation. Current: YOLO11s, 14,122 images, 40 epochs.</a:t>
            </a:r>
            <a:endParaRPr lang="en-US" sz="1200" dirty="0"/>
          </a:p>
        </p:txBody>
      </p:sp>
      <p:sp>
        <p:nvSpPr>
          <p:cNvPr id="10" name="footer-page"/>
          <p:cNvSpPr txBox="1"/>
          <p:nvPr/>
        </p:nvSpPr>
        <p:spPr>
          <a:xfrm>
            <a:off x="10109200" y="6261100"/>
            <a:ext cx="1270000" cy="215900"/>
          </a:xfrm>
          <a:prstGeom prst="rect">
            <a:avLst/>
          </a:prstGeom>
          <a:noFill/>
          <a:ln/>
        </p:spPr>
        <p:txBody>
          <a:bodyPr wrap="square" lIns="0" tIns="0" rIns="0" bIns="0" rtlCol="0" anchor="t"/>
          <a:lstStyle/>
          <a:p>
            <a:pPr algn="r" indent="0" marL="0">
              <a:buNone/>
            </a:pPr>
            <a:r>
              <a:rPr lang="en-US" sz="1200" dirty="0">
                <a:solidFill>
                  <a:srgbClr val="4A5F6F"/>
                </a:solidFill>
                <a:latin typeface="Calibri" pitchFamily="34" charset="0"/>
                <a:ea typeface="Calibri" pitchFamily="34" charset="-122"/>
                <a:cs typeface="Calibri" pitchFamily="34" charset="-120"/>
              </a:rPr>
              <a:t>5 / 7</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par>
                          <p:cTn id="18" fill="hold">
                            <p:stCondLst>
                              <p:cond delay="710"/>
                            </p:stCondLst>
                            <p:childTnLst>
                              <p:par>
                                <p:cTn id="12" presetID="22" presetClass="entr" presetSubtype="4"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450"/>
                                        <p:tgtEl>
                                          <p:spTgt spid="4"/>
                                        </p:tgtEl>
                                      </p:cBhvr>
                                    </p:animEffect>
                                  </p:childTnLst>
                                </p:cTn>
                              </p:par>
                              <p:par>
                                <p:cTn id="15" presetID="22" presetClass="entr" presetSubtype="4" fill="hold" grpId="0" nodeType="withEffect">
                                  <p:stCondLst>
                                    <p:cond delay="14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450"/>
                                        <p:tgtEl>
                                          <p:spTgt spid="5"/>
                                        </p:tgtEl>
                                      </p:cBhvr>
                                    </p:animEffect>
                                  </p:childTnLst>
                                </p:cTn>
                              </p:par>
                            </p:childTnLst>
                          </p:cTn>
                        </p:par>
                        <p:par>
                          <p:cTn id="22" fill="hold">
                            <p:stCondLst>
                              <p:cond delay="1420"/>
                            </p:stCondLst>
                            <p:childTnLst>
                              <p:par>
                                <p:cTn id="19" presetID="22" presetClass="entr" presetSubtype="4"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450"/>
                                        <p:tgtEl>
                                          <p:spTgt spid="6"/>
                                        </p:tgtEl>
                                      </p:cBhvr>
                                    </p:animEffect>
                                  </p:childTnLst>
                                </p:cTn>
                              </p:par>
                            </p:childTnLst>
                          </p:cTn>
                        </p:par>
                        <p:par>
                          <p:cTn id="29" fill="hold">
                            <p:stCondLst>
                              <p:cond delay="1990"/>
                            </p:stCondLst>
                            <p:childTnLst>
                              <p:par>
                                <p:cTn id="23" presetID="10"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50"/>
                                        <p:tgtEl>
                                          <p:spTgt spid="7"/>
                                        </p:tgtEl>
                                      </p:cBhvr>
                                    </p:animEffect>
                                  </p:childTnLst>
                                </p:cTn>
                              </p:par>
                              <p:par>
                                <p:cTn id="26" presetID="22" presetClass="entr" presetSubtype="4" fill="hold" grpId="0" nodeType="withEffect">
                                  <p:stCondLst>
                                    <p:cond delay="140"/>
                                  </p:stCondLst>
                                  <p:childTnLst>
                                    <p:set>
                                      <p:cBhvr>
                                        <p:cTn id="27" dur="1" fill="hold">
                                          <p:stCondLst>
                                            <p:cond delay="0"/>
                                          </p:stCondLst>
                                        </p:cTn>
                                        <p:tgtEl>
                                          <p:spTgt spid="8"/>
                                        </p:tgtEl>
                                        <p:attrNameLst>
                                          <p:attrName>style.visibility</p:attrName>
                                        </p:attrNameLst>
                                      </p:cBhvr>
                                      <p:to>
                                        <p:strVal val="visible"/>
                                      </p:to>
                                    </p:set>
                                    <p:animEffect transition="in" filter="wipe(down)">
                                      <p:cBhvr>
                                        <p:cTn id="28" dur="4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a1_0_f"/>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200" kern="0" dirty="0">
                <a:solidFill>
                  <a:srgbClr val="0F6B73"/>
                </a:solidFill>
                <a:latin typeface="Calibri" pitchFamily="34" charset="0"/>
                <a:ea typeface="Calibri" pitchFamily="34" charset="-122"/>
                <a:cs typeface="Calibri" pitchFamily="34" charset="-120"/>
              </a:rPr>
              <a:t>EXHIBIT 4 · RELIABILITY</a:t>
            </a:r>
            <a:endParaRPr lang="en-US" sz="1200" dirty="0"/>
          </a:p>
        </p:txBody>
      </p:sp>
      <p:sp>
        <p:nvSpPr>
          <p:cNvPr id="3" name="a1_1_f"/>
          <p:cNvSpPr txBox="1"/>
          <p:nvPr/>
        </p:nvSpPr>
        <p:spPr>
          <a:xfrm>
            <a:off x="812800" y="1066800"/>
            <a:ext cx="10566400" cy="508000"/>
          </a:xfrm>
          <a:prstGeom prst="rect">
            <a:avLst/>
          </a:prstGeom>
          <a:noFill/>
          <a:ln/>
        </p:spPr>
        <p:txBody>
          <a:bodyPr wrap="square" lIns="0" tIns="0" rIns="0" bIns="0" rtlCol="0" anchor="t"/>
          <a:lstStyle/>
          <a:p>
            <a:pPr indent="0" marL="0">
              <a:buNone/>
            </a:pPr>
            <a:r>
              <a:rPr lang="en-US" sz="2600" b="1" dirty="0">
                <a:solidFill>
                  <a:srgbClr val="0B1E2D"/>
                </a:solidFill>
                <a:latin typeface="Cambria" pitchFamily="34" charset="0"/>
                <a:ea typeface="Cambria" pitchFamily="34" charset="-122"/>
                <a:cs typeface="Cambria" pitchFamily="34" charset="-120"/>
              </a:rPr>
              <a:t>Small flames exposed the limits, so we measured them</a:t>
            </a:r>
            <a:endParaRPr lang="en-US" sz="2600" dirty="0"/>
          </a:p>
        </p:txBody>
      </p:sp>
      <p:sp>
        <p:nvSpPr>
          <p:cNvPr id="4" name="a2_0_w"/>
          <p:cNvSpPr txBox="1"/>
          <p:nvPr/>
        </p:nvSpPr>
        <p:spPr>
          <a:xfrm>
            <a:off x="812800" y="1841500"/>
            <a:ext cx="6096000" cy="279400"/>
          </a:xfrm>
          <a:prstGeom prst="rect">
            <a:avLst/>
          </a:prstGeom>
          <a:noFill/>
          <a:ln/>
        </p:spPr>
        <p:txBody>
          <a:bodyPr wrap="square" lIns="0" tIns="0" rIns="0" bIns="0" rtlCol="0" anchor="t"/>
          <a:lstStyle/>
          <a:p>
            <a:pPr indent="0" marL="0">
              <a:buNone/>
            </a:pPr>
            <a:r>
              <a:rPr lang="en-US" sz="1400" b="1" dirty="0">
                <a:solidFill>
                  <a:srgbClr val="0B1E2D"/>
                </a:solidFill>
                <a:latin typeface="Calibri" pitchFamily="34" charset="0"/>
                <a:ea typeface="Calibri" pitchFamily="34" charset="-122"/>
                <a:cs typeface="Calibri" pitchFamily="34" charset="-120"/>
              </a:rPr>
              <a:t>How often a 0.5% flame is found, per frame</a:t>
            </a:r>
            <a:endParaRPr lang="en-US" sz="1400" dirty="0"/>
          </a:p>
        </p:txBody>
      </p:sp>
      <p:sp>
        <p:nvSpPr>
          <p:cNvPr id="5" name="a3_0_f"/>
          <p:cNvSpPr txBox="1"/>
          <p:nvPr/>
        </p:nvSpPr>
        <p:spPr>
          <a:xfrm>
            <a:off x="812800" y="2260600"/>
            <a:ext cx="2413000" cy="279400"/>
          </a:xfrm>
          <a:prstGeom prst="rect">
            <a:avLst/>
          </a:prstGeom>
          <a:noFill/>
          <a:ln/>
        </p:spPr>
        <p:txBody>
          <a:bodyPr wrap="square" lIns="0" tIns="0" rIns="0" bIns="0" rtlCol="0" anchor="ctr"/>
          <a:lstStyle/>
          <a:p>
            <a:pPr indent="0" marL="0">
              <a:buNone/>
            </a:pPr>
            <a:r>
              <a:rPr lang="en-US" sz="1200" dirty="0">
                <a:solidFill>
                  <a:srgbClr val="334A5E"/>
                </a:solidFill>
                <a:latin typeface="Calibri" pitchFamily="34" charset="0"/>
                <a:ea typeface="Calibri" pitchFamily="34" charset="-122"/>
                <a:cs typeface="Calibri" pitchFamily="34" charset="-120"/>
              </a:rPr>
              <a:t>Browser Cam, 640 px frames</a:t>
            </a:r>
            <a:endParaRPr lang="en-US" sz="1200" dirty="0"/>
          </a:p>
        </p:txBody>
      </p:sp>
      <p:sp>
        <p:nvSpPr>
          <p:cNvPr id="6" name="a3_1_w"/>
          <p:cNvSpPr/>
          <p:nvPr/>
        </p:nvSpPr>
        <p:spPr>
          <a:xfrm>
            <a:off x="3352800" y="2260600"/>
            <a:ext cx="609600" cy="279400"/>
          </a:xfrm>
          <a:prstGeom prst="rect">
            <a:avLst/>
          </a:prstGeom>
          <a:solidFill>
            <a:srgbClr val="7D91A5"/>
          </a:solidFill>
          <a:ln w="12700">
            <a:solidFill>
              <a:srgbClr val="7D91A5"/>
            </a:solidFill>
            <a:prstDash val="solid"/>
          </a:ln>
        </p:spPr>
      </p:sp>
      <p:sp>
        <p:nvSpPr>
          <p:cNvPr id="7" name="a3_2_f"/>
          <p:cNvSpPr txBox="1"/>
          <p:nvPr/>
        </p:nvSpPr>
        <p:spPr>
          <a:xfrm>
            <a:off x="4089400" y="2260600"/>
            <a:ext cx="1397000" cy="279400"/>
          </a:xfrm>
          <a:prstGeom prst="rect">
            <a:avLst/>
          </a:prstGeom>
          <a:noFill/>
          <a:ln/>
        </p:spPr>
        <p:txBody>
          <a:bodyPr wrap="square" lIns="0" tIns="0" rIns="0" bIns="0" rtlCol="0" anchor="ctr"/>
          <a:lstStyle/>
          <a:p>
            <a:pPr indent="0" marL="0">
              <a:buNone/>
            </a:pPr>
            <a:r>
              <a:rPr lang="en-US" sz="1400" b="1" dirty="0">
                <a:solidFill>
                  <a:srgbClr val="0B1E2D"/>
                </a:solidFill>
                <a:latin typeface="Calibri" pitchFamily="34" charset="0"/>
                <a:ea typeface="Calibri" pitchFamily="34" charset="-122"/>
                <a:cs typeface="Calibri" pitchFamily="34" charset="-120"/>
              </a:rPr>
              <a:t>12%</a:t>
            </a:r>
            <a:endParaRPr lang="en-US" sz="1400" dirty="0"/>
          </a:p>
        </p:txBody>
      </p:sp>
      <p:sp>
        <p:nvSpPr>
          <p:cNvPr id="8" name="a4_0_f"/>
          <p:cNvSpPr txBox="1"/>
          <p:nvPr/>
        </p:nvSpPr>
        <p:spPr>
          <a:xfrm>
            <a:off x="812800" y="2692400"/>
            <a:ext cx="2413000" cy="279400"/>
          </a:xfrm>
          <a:prstGeom prst="rect">
            <a:avLst/>
          </a:prstGeom>
          <a:noFill/>
          <a:ln/>
        </p:spPr>
        <p:txBody>
          <a:bodyPr wrap="square" lIns="0" tIns="0" rIns="0" bIns="0" rtlCol="0" anchor="ctr"/>
          <a:lstStyle/>
          <a:p>
            <a:pPr indent="0" marL="0">
              <a:buNone/>
            </a:pPr>
            <a:r>
              <a:rPr lang="en-US" sz="1200" dirty="0">
                <a:solidFill>
                  <a:srgbClr val="334A5E"/>
                </a:solidFill>
                <a:latin typeface="Calibri" pitchFamily="34" charset="0"/>
                <a:ea typeface="Calibri" pitchFamily="34" charset="-122"/>
                <a:cs typeface="Calibri" pitchFamily="34" charset="-120"/>
              </a:rPr>
              <a:t>Webcam, model at 640 px</a:t>
            </a:r>
            <a:endParaRPr lang="en-US" sz="1200" dirty="0"/>
          </a:p>
        </p:txBody>
      </p:sp>
      <p:sp>
        <p:nvSpPr>
          <p:cNvPr id="9" name="a4_1_w"/>
          <p:cNvSpPr/>
          <p:nvPr/>
        </p:nvSpPr>
        <p:spPr>
          <a:xfrm>
            <a:off x="3352800" y="2692400"/>
            <a:ext cx="965200" cy="279400"/>
          </a:xfrm>
          <a:prstGeom prst="rect">
            <a:avLst/>
          </a:prstGeom>
          <a:solidFill>
            <a:srgbClr val="7D91A5"/>
          </a:solidFill>
          <a:ln w="12700">
            <a:solidFill>
              <a:srgbClr val="7D91A5"/>
            </a:solidFill>
            <a:prstDash val="solid"/>
          </a:ln>
        </p:spPr>
      </p:sp>
      <p:sp>
        <p:nvSpPr>
          <p:cNvPr id="10" name="a4_2_f"/>
          <p:cNvSpPr txBox="1"/>
          <p:nvPr/>
        </p:nvSpPr>
        <p:spPr>
          <a:xfrm>
            <a:off x="4445000" y="2692400"/>
            <a:ext cx="1397000" cy="279400"/>
          </a:xfrm>
          <a:prstGeom prst="rect">
            <a:avLst/>
          </a:prstGeom>
          <a:noFill/>
          <a:ln/>
        </p:spPr>
        <p:txBody>
          <a:bodyPr wrap="square" lIns="0" tIns="0" rIns="0" bIns="0" rtlCol="0" anchor="ctr"/>
          <a:lstStyle/>
          <a:p>
            <a:pPr indent="0" marL="0">
              <a:buNone/>
            </a:pPr>
            <a:r>
              <a:rPr lang="en-US" sz="1400" b="1" dirty="0">
                <a:solidFill>
                  <a:srgbClr val="0B1E2D"/>
                </a:solidFill>
                <a:latin typeface="Calibri" pitchFamily="34" charset="0"/>
                <a:ea typeface="Calibri" pitchFamily="34" charset="-122"/>
                <a:cs typeface="Calibri" pitchFamily="34" charset="-120"/>
              </a:rPr>
              <a:t>19%</a:t>
            </a:r>
            <a:endParaRPr lang="en-US" sz="1400" dirty="0"/>
          </a:p>
        </p:txBody>
      </p:sp>
      <p:sp>
        <p:nvSpPr>
          <p:cNvPr id="11" name="a5_0_f"/>
          <p:cNvSpPr txBox="1"/>
          <p:nvPr/>
        </p:nvSpPr>
        <p:spPr>
          <a:xfrm>
            <a:off x="812800" y="3124200"/>
            <a:ext cx="2413000" cy="279400"/>
          </a:xfrm>
          <a:prstGeom prst="rect">
            <a:avLst/>
          </a:prstGeom>
          <a:noFill/>
          <a:ln/>
        </p:spPr>
        <p:txBody>
          <a:bodyPr wrap="square" lIns="0" tIns="0" rIns="0" bIns="0" rtlCol="0" anchor="ctr"/>
          <a:lstStyle/>
          <a:p>
            <a:pPr indent="0" marL="0">
              <a:buNone/>
            </a:pPr>
            <a:r>
              <a:rPr lang="en-US" sz="1200" dirty="0">
                <a:solidFill>
                  <a:srgbClr val="334A5E"/>
                </a:solidFill>
                <a:latin typeface="Calibri" pitchFamily="34" charset="0"/>
                <a:ea typeface="Calibri" pitchFamily="34" charset="-122"/>
                <a:cs typeface="Calibri" pitchFamily="34" charset="-120"/>
              </a:rPr>
              <a:t>Webcam, model at 960 px</a:t>
            </a:r>
            <a:endParaRPr lang="en-US" sz="1200" dirty="0"/>
          </a:p>
        </p:txBody>
      </p:sp>
      <p:sp>
        <p:nvSpPr>
          <p:cNvPr id="12" name="a5_1_w"/>
          <p:cNvSpPr/>
          <p:nvPr/>
        </p:nvSpPr>
        <p:spPr>
          <a:xfrm>
            <a:off x="3352800" y="3124200"/>
            <a:ext cx="1574800" cy="279400"/>
          </a:xfrm>
          <a:prstGeom prst="rect">
            <a:avLst/>
          </a:prstGeom>
          <a:solidFill>
            <a:srgbClr val="7D91A5"/>
          </a:solidFill>
          <a:ln w="12700">
            <a:solidFill>
              <a:srgbClr val="7D91A5"/>
            </a:solidFill>
            <a:prstDash val="solid"/>
          </a:ln>
        </p:spPr>
      </p:sp>
      <p:sp>
        <p:nvSpPr>
          <p:cNvPr id="13" name="a5_2_f"/>
          <p:cNvSpPr txBox="1"/>
          <p:nvPr/>
        </p:nvSpPr>
        <p:spPr>
          <a:xfrm>
            <a:off x="5054600" y="3124200"/>
            <a:ext cx="1397000" cy="279400"/>
          </a:xfrm>
          <a:prstGeom prst="rect">
            <a:avLst/>
          </a:prstGeom>
          <a:noFill/>
          <a:ln/>
        </p:spPr>
        <p:txBody>
          <a:bodyPr wrap="square" lIns="0" tIns="0" rIns="0" bIns="0" rtlCol="0" anchor="ctr"/>
          <a:lstStyle/>
          <a:p>
            <a:pPr indent="0" marL="0">
              <a:buNone/>
            </a:pPr>
            <a:r>
              <a:rPr lang="en-US" sz="1400" b="1" dirty="0">
                <a:solidFill>
                  <a:srgbClr val="0B1E2D"/>
                </a:solidFill>
                <a:latin typeface="Calibri" pitchFamily="34" charset="0"/>
                <a:ea typeface="Calibri" pitchFamily="34" charset="-122"/>
                <a:cs typeface="Calibri" pitchFamily="34" charset="-120"/>
              </a:rPr>
              <a:t>31%</a:t>
            </a:r>
            <a:endParaRPr lang="en-US" sz="1400" dirty="0"/>
          </a:p>
        </p:txBody>
      </p:sp>
      <p:sp>
        <p:nvSpPr>
          <p:cNvPr id="14" name="a6_0_f"/>
          <p:cNvSpPr txBox="1"/>
          <p:nvPr/>
        </p:nvSpPr>
        <p:spPr>
          <a:xfrm>
            <a:off x="812800" y="3556000"/>
            <a:ext cx="2413000" cy="279400"/>
          </a:xfrm>
          <a:prstGeom prst="rect">
            <a:avLst/>
          </a:prstGeom>
          <a:noFill/>
          <a:ln/>
        </p:spPr>
        <p:txBody>
          <a:bodyPr wrap="square" lIns="0" tIns="0" rIns="0" bIns="0" rtlCol="0" anchor="ctr"/>
          <a:lstStyle/>
          <a:p>
            <a:pPr indent="0" marL="0">
              <a:buNone/>
            </a:pPr>
            <a:r>
              <a:rPr lang="en-US" sz="1200" b="1" dirty="0">
                <a:solidFill>
                  <a:srgbClr val="0B1E2D"/>
                </a:solidFill>
                <a:latin typeface="Calibri" pitchFamily="34" charset="0"/>
                <a:ea typeface="Calibri" pitchFamily="34" charset="-122"/>
                <a:cs typeface="Calibri" pitchFamily="34" charset="-120"/>
              </a:rPr>
              <a:t>Webcam, model at 1280 px</a:t>
            </a:r>
            <a:endParaRPr lang="en-US" sz="1200" dirty="0"/>
          </a:p>
        </p:txBody>
      </p:sp>
      <p:sp>
        <p:nvSpPr>
          <p:cNvPr id="15" name="a6_1_w"/>
          <p:cNvSpPr/>
          <p:nvPr/>
        </p:nvSpPr>
        <p:spPr>
          <a:xfrm>
            <a:off x="3352800" y="3556000"/>
            <a:ext cx="2489200" cy="279400"/>
          </a:xfrm>
          <a:prstGeom prst="rect">
            <a:avLst/>
          </a:prstGeom>
          <a:solidFill>
            <a:srgbClr val="0F6B73"/>
          </a:solidFill>
          <a:ln w="12700">
            <a:solidFill>
              <a:srgbClr val="0F6B73"/>
            </a:solidFill>
            <a:prstDash val="solid"/>
          </a:ln>
        </p:spPr>
      </p:sp>
      <p:sp>
        <p:nvSpPr>
          <p:cNvPr id="16" name="a6_2_f"/>
          <p:cNvSpPr txBox="1"/>
          <p:nvPr/>
        </p:nvSpPr>
        <p:spPr>
          <a:xfrm>
            <a:off x="5969000" y="3556000"/>
            <a:ext cx="1397000" cy="279400"/>
          </a:xfrm>
          <a:prstGeom prst="rect">
            <a:avLst/>
          </a:prstGeom>
          <a:noFill/>
          <a:ln/>
        </p:spPr>
        <p:txBody>
          <a:bodyPr wrap="square" lIns="0" tIns="0" rIns="0" bIns="0" rtlCol="0" anchor="ctr"/>
          <a:lstStyle/>
          <a:p>
            <a:pPr indent="0" marL="0">
              <a:buNone/>
            </a:pPr>
            <a:r>
              <a:rPr lang="en-US" sz="1400" b="1" dirty="0">
                <a:solidFill>
                  <a:srgbClr val="0F6B73"/>
                </a:solidFill>
                <a:latin typeface="Calibri" pitchFamily="34" charset="0"/>
                <a:ea typeface="Calibri" pitchFamily="34" charset="-122"/>
                <a:cs typeface="Calibri" pitchFamily="34" charset="-120"/>
              </a:rPr>
              <a:t>49% best</a:t>
            </a:r>
            <a:endParaRPr lang="en-US" sz="1400" dirty="0"/>
          </a:p>
        </p:txBody>
      </p:sp>
      <p:sp>
        <p:nvSpPr>
          <p:cNvPr id="17" name="a7_0_w"/>
          <p:cNvSpPr txBox="1"/>
          <p:nvPr/>
        </p:nvSpPr>
        <p:spPr>
          <a:xfrm>
            <a:off x="812800" y="4064000"/>
            <a:ext cx="6096000" cy="571500"/>
          </a:xfrm>
          <a:prstGeom prst="rect">
            <a:avLst/>
          </a:prstGeom>
          <a:noFill/>
          <a:ln/>
        </p:spPr>
        <p:txBody>
          <a:bodyPr wrap="square" lIns="0" tIns="0" rIns="0" bIns="0" rtlCol="0" anchor="t"/>
          <a:lstStyle/>
          <a:p>
            <a:pPr indent="0" marL="0">
              <a:buNone/>
            </a:pPr>
            <a:r>
              <a:rPr lang="en-US" sz="1200" dirty="0">
                <a:solidFill>
                  <a:srgbClr val="4A5F6F"/>
                </a:solidFill>
                <a:latin typeface="Calibri" pitchFamily="34" charset="0"/>
                <a:ea typeface="Calibri" pitchFamily="34" charset="-122"/>
                <a:cs typeface="Calibri" pitchFamily="34" charset="-120"/>
              </a:rPr>
              <a:t>Confidence 0.40. Real flame crops pasted onto empty scenes: a proxy, not a lighter test. The cost: 198, 394 and 704 ms per frame on a CPU.</a:t>
            </a:r>
            <a:endParaRPr lang="en-US" sz="1200" dirty="0"/>
          </a:p>
        </p:txBody>
      </p:sp>
      <p:sp>
        <p:nvSpPr>
          <p:cNvPr id="18" name="a8_0_w"/>
          <p:cNvSpPr txBox="1"/>
          <p:nvPr/>
        </p:nvSpPr>
        <p:spPr>
          <a:xfrm>
            <a:off x="812800" y="4762500"/>
            <a:ext cx="6096000" cy="698500"/>
          </a:xfrm>
          <a:prstGeom prst="rect">
            <a:avLst/>
          </a:prstGeom>
          <a:solidFill>
            <a:srgbClr val="FBECEA"/>
          </a:solidFill>
          <a:ln w="12700">
            <a:solidFill>
              <a:srgbClr val="E8B9B4"/>
            </a:solidFill>
          </a:ln>
        </p:spPr>
        <p:txBody>
          <a:bodyPr wrap="square" lIns="127000" tIns="177800" rIns="177800" bIns="127000" rtlCol="0" anchor="ctr"/>
          <a:lstStyle/>
          <a:p>
            <a:pPr indent="0" marL="0">
              <a:buNone/>
            </a:pPr>
            <a:r>
              <a:rPr lang="en-US" sz="1300" b="1" dirty="0">
                <a:solidFill>
                  <a:srgbClr val="0B1E2D"/>
                </a:solidFill>
                <a:latin typeface="Calibri" pitchFamily="34" charset="0"/>
                <a:ea typeface="Calibri" pitchFamily="34" charset="-122"/>
                <a:cs typeface="Calibri" pitchFamily="34" charset="-120"/>
              </a:rPr>
              <a:t>Honest limit: </a:t>
            </a:r>
            <a:pPr indent="0" marL="0">
              <a:buNone/>
            </a:pPr>
            <a:r>
              <a:rPr lang="en-US" sz="1300" dirty="0">
                <a:solidFill>
                  <a:srgbClr val="0B1E2D"/>
                </a:solidFill>
                <a:latin typeface="Calibri" pitchFamily="34" charset="0"/>
                <a:ea typeface="Calibri" pitchFamily="34" charset="-122"/>
                <a:cs typeface="Calibri" pitchFamily="34" charset="-120"/>
              </a:rPr>
              <a:t>the model has never seen a lighter or match flame. Retraining on our own footage is the lasting fix.</a:t>
            </a:r>
            <a:endParaRPr lang="en-US" sz="1400" dirty="0"/>
          </a:p>
        </p:txBody>
      </p:sp>
      <p:sp>
        <p:nvSpPr>
          <p:cNvPr id="19" name="a9_0_w"/>
          <p:cNvSpPr txBox="1"/>
          <p:nvPr/>
        </p:nvSpPr>
        <p:spPr>
          <a:xfrm>
            <a:off x="7315200" y="1841500"/>
            <a:ext cx="4064000" cy="12446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400"/>
              </a:spcAft>
              <a:buNone/>
            </a:pPr>
            <a:r>
              <a:rPr lang="en-US" sz="1200" b="1" dirty="0">
                <a:solidFill>
                  <a:srgbClr val="0F6B73"/>
                </a:solidFill>
                <a:latin typeface="Calibri" pitchFamily="34" charset="0"/>
                <a:ea typeface="Calibri" pitchFamily="34" charset="-122"/>
                <a:cs typeface="Calibri" pitchFamily="34" charset="-120"/>
              </a:rPr>
              <a:t>01</a:t>
            </a:r>
            <a:endParaRPr lang="en-US" sz="1200" dirty="0"/>
          </a:p>
          <a:p>
            <a:pPr indent="0" marL="0">
              <a:spcAft>
                <a:spcPts val="400"/>
              </a:spcAft>
              <a:buNone/>
            </a:pPr>
            <a:r>
              <a:rPr lang="en-US" sz="1600" b="1" dirty="0">
                <a:solidFill>
                  <a:srgbClr val="0B1E2D"/>
                </a:solidFill>
                <a:latin typeface="Calibri" pitchFamily="34" charset="0"/>
                <a:ea typeface="Calibri" pitchFamily="34" charset="-122"/>
                <a:cs typeface="Calibri" pitchFamily="34" charset="-120"/>
              </a:rPr>
              <a:t>Alarm tracker</a:t>
            </a:r>
            <a:endParaRPr lang="en-US" sz="1200" dirty="0"/>
          </a:p>
          <a:p>
            <a:pPr indent="0" marL="0">
              <a:buNone/>
            </a:pPr>
            <a:r>
              <a:rPr lang="en-US" sz="1200" dirty="0">
                <a:solidFill>
                  <a:srgbClr val="334A5E"/>
                </a:solidFill>
                <a:latin typeface="Calibri" pitchFamily="34" charset="0"/>
                <a:ea typeface="Calibri" pitchFamily="34" charset="-122"/>
                <a:cs typeface="Calibri" pitchFamily="34" charset="-120"/>
              </a:rPr>
              <a:t>One confident hit confirms at once. The alarm holds a few seconds, so a flickering flame does not blink.</a:t>
            </a:r>
            <a:endParaRPr lang="en-US" sz="1200" dirty="0"/>
          </a:p>
        </p:txBody>
      </p:sp>
      <p:sp>
        <p:nvSpPr>
          <p:cNvPr id="20" name="a9_1_w"/>
          <p:cNvSpPr txBox="1"/>
          <p:nvPr/>
        </p:nvSpPr>
        <p:spPr>
          <a:xfrm>
            <a:off x="7315200" y="3225800"/>
            <a:ext cx="4064000" cy="12446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400"/>
              </a:spcAft>
              <a:buNone/>
            </a:pPr>
            <a:r>
              <a:rPr lang="en-US" sz="1200" b="1" dirty="0">
                <a:solidFill>
                  <a:srgbClr val="0F6B73"/>
                </a:solidFill>
                <a:latin typeface="Calibri" pitchFamily="34" charset="0"/>
                <a:ea typeface="Calibri" pitchFamily="34" charset="-122"/>
                <a:cs typeface="Calibri" pitchFamily="34" charset="-120"/>
              </a:rPr>
              <a:t>02</a:t>
            </a:r>
            <a:endParaRPr lang="en-US" sz="1200" dirty="0"/>
          </a:p>
          <a:p>
            <a:pPr indent="0" marL="0">
              <a:spcAft>
                <a:spcPts val="400"/>
              </a:spcAft>
              <a:buNone/>
            </a:pPr>
            <a:r>
              <a:rPr lang="en-US" sz="1600" b="1" dirty="0">
                <a:solidFill>
                  <a:srgbClr val="0B1E2D"/>
                </a:solidFill>
                <a:latin typeface="Calibri" pitchFamily="34" charset="0"/>
                <a:ea typeface="Calibri" pitchFamily="34" charset="-122"/>
                <a:cs typeface="Calibri" pitchFamily="34" charset="-120"/>
              </a:rPr>
              <a:t>Incident episodes</a:t>
            </a:r>
            <a:endParaRPr lang="en-US" sz="1200" dirty="0"/>
          </a:p>
          <a:p>
            <a:pPr indent="0" marL="0">
              <a:buNone/>
            </a:pPr>
            <a:r>
              <a:rPr lang="en-US" sz="1200" dirty="0">
                <a:solidFill>
                  <a:srgbClr val="334A5E"/>
                </a:solidFill>
                <a:latin typeface="Calibri" pitchFamily="34" charset="0"/>
                <a:ea typeface="Calibri" pitchFamily="34" charset="-122"/>
                <a:cs typeface="Calibri" pitchFamily="34" charset="-120"/>
              </a:rPr>
              <a:t>A flame that returns extends the same incident, so nothing is dropped.</a:t>
            </a:r>
            <a:endParaRPr lang="en-US" sz="1200" dirty="0"/>
          </a:p>
        </p:txBody>
      </p:sp>
      <p:sp>
        <p:nvSpPr>
          <p:cNvPr id="21" name="a9_2_w"/>
          <p:cNvSpPr txBox="1"/>
          <p:nvPr/>
        </p:nvSpPr>
        <p:spPr>
          <a:xfrm>
            <a:off x="7315200" y="4610100"/>
            <a:ext cx="4064000" cy="12446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400"/>
              </a:spcAft>
              <a:buNone/>
            </a:pPr>
            <a:r>
              <a:rPr lang="en-US" sz="1200" b="1" dirty="0">
                <a:solidFill>
                  <a:srgbClr val="0F6B73"/>
                </a:solidFill>
                <a:latin typeface="Calibri" pitchFamily="34" charset="0"/>
                <a:ea typeface="Calibri" pitchFamily="34" charset="-122"/>
                <a:cs typeface="Calibri" pitchFamily="34" charset="-120"/>
              </a:rPr>
              <a:t>03</a:t>
            </a:r>
            <a:endParaRPr lang="en-US" sz="1200" dirty="0"/>
          </a:p>
          <a:p>
            <a:pPr indent="0" marL="0">
              <a:spcAft>
                <a:spcPts val="400"/>
              </a:spcAft>
              <a:buNone/>
            </a:pPr>
            <a:r>
              <a:rPr lang="en-US" sz="1600" b="1" dirty="0">
                <a:solidFill>
                  <a:srgbClr val="0B1E2D"/>
                </a:solidFill>
                <a:latin typeface="Calibri" pitchFamily="34" charset="0"/>
                <a:ea typeface="Calibri" pitchFamily="34" charset="-122"/>
                <a:cs typeface="Calibri" pitchFamily="34" charset="-120"/>
              </a:rPr>
              <a:t>Detail level and presets</a:t>
            </a:r>
            <a:endParaRPr lang="en-US" sz="1200" dirty="0"/>
          </a:p>
          <a:p>
            <a:pPr indent="0" marL="0">
              <a:buNone/>
            </a:pPr>
            <a:r>
              <a:rPr lang="en-US" sz="1200" dirty="0">
                <a:solidFill>
                  <a:srgbClr val="334A5E"/>
                </a:solidFill>
                <a:latin typeface="Calibri" pitchFamily="34" charset="0"/>
                <a:ea typeface="Calibri" pitchFamily="34" charset="-122"/>
                <a:cs typeface="Calibri" pitchFamily="34" charset="-120"/>
              </a:rPr>
              <a:t>More pixels for small flames at about twice the cost per frame, plus a Close-range preset.</a:t>
            </a:r>
            <a:endParaRPr lang="en-US" sz="1200" dirty="0"/>
          </a:p>
        </p:txBody>
      </p:sp>
      <p:sp>
        <p:nvSpPr>
          <p:cNvPr id="22" name="footer-note"/>
          <p:cNvSpPr txBox="1"/>
          <p:nvPr/>
        </p:nvSpPr>
        <p:spPr>
          <a:xfrm>
            <a:off x="812800" y="6261100"/>
            <a:ext cx="8890000" cy="215900"/>
          </a:xfrm>
          <a:prstGeom prst="rect">
            <a:avLst/>
          </a:prstGeom>
          <a:noFill/>
          <a:ln/>
        </p:spPr>
        <p:txBody>
          <a:bodyPr wrap="square" lIns="0" tIns="0" rIns="0" bIns="0" rtlCol="0" anchor="t"/>
          <a:lstStyle/>
          <a:p>
            <a:pPr indent="0" marL="0">
              <a:buNone/>
            </a:pPr>
            <a:r>
              <a:rPr lang="en-US" sz="1200" dirty="0">
                <a:solidFill>
                  <a:srgbClr val="4A5F6F"/>
                </a:solidFill>
                <a:latin typeface="Calibri" pitchFamily="34" charset="0"/>
                <a:ea typeface="Calibri" pitchFamily="34" charset="-122"/>
                <a:cs typeface="Calibri" pitchFamily="34" charset="-120"/>
              </a:rPr>
              <a:t>Source: held-out D-Fire test images, live model, Intel i5-9500 CPU</a:t>
            </a:r>
            <a:endParaRPr lang="en-US" sz="1200" dirty="0"/>
          </a:p>
        </p:txBody>
      </p:sp>
      <p:sp>
        <p:nvSpPr>
          <p:cNvPr id="23" name="footer-page"/>
          <p:cNvSpPr txBox="1"/>
          <p:nvPr/>
        </p:nvSpPr>
        <p:spPr>
          <a:xfrm>
            <a:off x="10109200" y="6261100"/>
            <a:ext cx="1270000" cy="215900"/>
          </a:xfrm>
          <a:prstGeom prst="rect">
            <a:avLst/>
          </a:prstGeom>
          <a:noFill/>
          <a:ln/>
        </p:spPr>
        <p:txBody>
          <a:bodyPr wrap="square" lIns="0" tIns="0" rIns="0" bIns="0" rtlCol="0" anchor="t"/>
          <a:lstStyle/>
          <a:p>
            <a:pPr algn="r" indent="0" marL="0">
              <a:buNone/>
            </a:pPr>
            <a:r>
              <a:rPr lang="en-US" sz="1200" dirty="0">
                <a:solidFill>
                  <a:srgbClr val="4A5F6F"/>
                </a:solidFill>
                <a:latin typeface="Calibri" pitchFamily="34" charset="0"/>
                <a:ea typeface="Calibri" pitchFamily="34" charset="-122"/>
                <a:cs typeface="Calibri" pitchFamily="34" charset="-120"/>
              </a:rPr>
              <a:t>6 / 7</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par>
                          <p:cTn id="15" fill="hold">
                            <p:stCondLst>
                              <p:cond delay="710"/>
                            </p:stCondLst>
                            <p:childTnLst>
                              <p:par>
                                <p:cTn id="12" presetID="22" presetClass="entr" presetSubtype="4"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450"/>
                                        <p:tgtEl>
                                          <p:spTgt spid="4"/>
                                        </p:tgtEl>
                                      </p:cBhvr>
                                    </p:animEffect>
                                  </p:childTnLst>
                                </p:cTn>
                              </p:par>
                            </p:childTnLst>
                          </p:cTn>
                        </p:par>
                        <p:par>
                          <p:cTn id="25" fill="hold">
                            <p:stCondLst>
                              <p:cond delay="128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450"/>
                                        <p:tgtEl>
                                          <p:spTgt spid="5"/>
                                        </p:tgtEl>
                                      </p:cBhvr>
                                    </p:animEffect>
                                  </p:childTnLst>
                                </p:cTn>
                              </p:par>
                              <p:par>
                                <p:cTn id="19" presetID="22" presetClass="entr" presetSubtype="4" fill="hold" grpId="0" nodeType="withEffect">
                                  <p:stCondLst>
                                    <p:cond delay="14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450"/>
                                        <p:tgtEl>
                                          <p:spTgt spid="6"/>
                                        </p:tgtEl>
                                      </p:cBhvr>
                                    </p:animEffect>
                                  </p:childTnLst>
                                </p:cTn>
                              </p:par>
                              <p:par>
                                <p:cTn id="22" presetID="10" presetClass="entr" presetSubtype="0" fill="hold" grpId="0" nodeType="withEffect">
                                  <p:stCondLst>
                                    <p:cond delay="28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450"/>
                                        <p:tgtEl>
                                          <p:spTgt spid="7"/>
                                        </p:tgtEl>
                                      </p:cBhvr>
                                    </p:animEffect>
                                  </p:childTnLst>
                                </p:cTn>
                              </p:par>
                            </p:childTnLst>
                          </p:cTn>
                        </p:par>
                        <p:par>
                          <p:cTn id="35" fill="hold">
                            <p:stCondLst>
                              <p:cond delay="2130"/>
                            </p:stCondLst>
                            <p:childTnLst>
                              <p:par>
                                <p:cTn id="26" presetID="10" presetClass="entr" presetSubtype="0"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50"/>
                                        <p:tgtEl>
                                          <p:spTgt spid="8"/>
                                        </p:tgtEl>
                                      </p:cBhvr>
                                    </p:animEffect>
                                  </p:childTnLst>
                                </p:cTn>
                              </p:par>
                              <p:par>
                                <p:cTn id="29" presetID="22" presetClass="entr" presetSubtype="4" fill="hold" grpId="0" nodeType="withEffect">
                                  <p:stCondLst>
                                    <p:cond delay="14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450"/>
                                        <p:tgtEl>
                                          <p:spTgt spid="9"/>
                                        </p:tgtEl>
                                      </p:cBhvr>
                                    </p:animEffect>
                                  </p:childTnLst>
                                </p:cTn>
                              </p:par>
                              <p:par>
                                <p:cTn id="32" presetID="10" presetClass="entr" presetSubtype="0" fill="hold" grpId="0" nodeType="withEffect">
                                  <p:stCondLst>
                                    <p:cond delay="28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50"/>
                                        <p:tgtEl>
                                          <p:spTgt spid="10"/>
                                        </p:tgtEl>
                                      </p:cBhvr>
                                    </p:animEffect>
                                  </p:childTnLst>
                                </p:cTn>
                              </p:par>
                            </p:childTnLst>
                          </p:cTn>
                        </p:par>
                        <p:par>
                          <p:cTn id="45" fill="hold">
                            <p:stCondLst>
                              <p:cond delay="298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450"/>
                                        <p:tgtEl>
                                          <p:spTgt spid="11"/>
                                        </p:tgtEl>
                                      </p:cBhvr>
                                    </p:animEffect>
                                  </p:childTnLst>
                                </p:cTn>
                              </p:par>
                              <p:par>
                                <p:cTn id="39" presetID="22" presetClass="entr" presetSubtype="4" fill="hold" grpId="0" nodeType="withEffect">
                                  <p:stCondLst>
                                    <p:cond delay="140"/>
                                  </p:stCondLst>
                                  <p:childTnLst>
                                    <p:set>
                                      <p:cBhvr>
                                        <p:cTn id="40" dur="1" fill="hold">
                                          <p:stCondLst>
                                            <p:cond delay="0"/>
                                          </p:stCondLst>
                                        </p:cTn>
                                        <p:tgtEl>
                                          <p:spTgt spid="12"/>
                                        </p:tgtEl>
                                        <p:attrNameLst>
                                          <p:attrName>style.visibility</p:attrName>
                                        </p:attrNameLst>
                                      </p:cBhvr>
                                      <p:to>
                                        <p:strVal val="visible"/>
                                      </p:to>
                                    </p:set>
                                    <p:animEffect transition="in" filter="wipe(down)">
                                      <p:cBhvr>
                                        <p:cTn id="41" dur="450"/>
                                        <p:tgtEl>
                                          <p:spTgt spid="12"/>
                                        </p:tgtEl>
                                      </p:cBhvr>
                                    </p:animEffect>
                                  </p:childTnLst>
                                </p:cTn>
                              </p:par>
                              <p:par>
                                <p:cTn id="42" presetID="10" presetClass="entr" presetSubtype="0" fill="hold" grpId="0" nodeType="withEffect">
                                  <p:stCondLst>
                                    <p:cond delay="28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450"/>
                                        <p:tgtEl>
                                          <p:spTgt spid="13"/>
                                        </p:tgtEl>
                                      </p:cBhvr>
                                    </p:animEffect>
                                  </p:childTnLst>
                                </p:cTn>
                              </p:par>
                            </p:childTnLst>
                          </p:cTn>
                        </p:par>
                        <p:par>
                          <p:cTn id="55" fill="hold">
                            <p:stCondLst>
                              <p:cond delay="3830"/>
                            </p:stCondLst>
                            <p:childTnLst>
                              <p:par>
                                <p:cTn id="46" presetID="10" presetClass="entr" presetSubtype="0"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fade">
                                      <p:cBhvr>
                                        <p:cTn id="48" dur="450"/>
                                        <p:tgtEl>
                                          <p:spTgt spid="14"/>
                                        </p:tgtEl>
                                      </p:cBhvr>
                                    </p:animEffect>
                                  </p:childTnLst>
                                </p:cTn>
                              </p:par>
                              <p:par>
                                <p:cTn id="49" presetID="22" presetClass="entr" presetSubtype="4" fill="hold" grpId="0" nodeType="withEffect">
                                  <p:stCondLst>
                                    <p:cond delay="140"/>
                                  </p:stCondLst>
                                  <p:childTnLst>
                                    <p:set>
                                      <p:cBhvr>
                                        <p:cTn id="50" dur="1" fill="hold">
                                          <p:stCondLst>
                                            <p:cond delay="0"/>
                                          </p:stCondLst>
                                        </p:cTn>
                                        <p:tgtEl>
                                          <p:spTgt spid="15"/>
                                        </p:tgtEl>
                                        <p:attrNameLst>
                                          <p:attrName>style.visibility</p:attrName>
                                        </p:attrNameLst>
                                      </p:cBhvr>
                                      <p:to>
                                        <p:strVal val="visible"/>
                                      </p:to>
                                    </p:set>
                                    <p:animEffect transition="in" filter="wipe(down)">
                                      <p:cBhvr>
                                        <p:cTn id="51" dur="450"/>
                                        <p:tgtEl>
                                          <p:spTgt spid="15"/>
                                        </p:tgtEl>
                                      </p:cBhvr>
                                    </p:animEffect>
                                  </p:childTnLst>
                                </p:cTn>
                              </p:par>
                              <p:par>
                                <p:cTn id="52" presetID="10" presetClass="entr" presetSubtype="0" fill="hold" grpId="0" nodeType="withEffect">
                                  <p:stCondLst>
                                    <p:cond delay="28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450"/>
                                        <p:tgtEl>
                                          <p:spTgt spid="16"/>
                                        </p:tgtEl>
                                      </p:cBhvr>
                                    </p:animEffect>
                                  </p:childTnLst>
                                </p:cTn>
                              </p:par>
                            </p:childTnLst>
                          </p:cTn>
                        </p:par>
                        <p:par>
                          <p:cTn id="59" fill="hold">
                            <p:stCondLst>
                              <p:cond delay="4680"/>
                            </p:stCondLst>
                            <p:childTnLst>
                              <p:par>
                                <p:cTn id="56" presetID="22" presetClass="entr" presetSubtype="4" fill="hold" grpId="0"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450"/>
                                        <p:tgtEl>
                                          <p:spTgt spid="17"/>
                                        </p:tgtEl>
                                      </p:cBhvr>
                                    </p:animEffect>
                                  </p:childTnLst>
                                </p:cTn>
                              </p:par>
                            </p:childTnLst>
                          </p:cTn>
                        </p:par>
                        <p:par>
                          <p:cTn id="63" fill="hold">
                            <p:stCondLst>
                              <p:cond delay="5250"/>
                            </p:stCondLst>
                            <p:childTnLst>
                              <p:par>
                                <p:cTn id="60" presetID="22" presetClass="entr" presetSubtype="4" fill="hold" grpId="0"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62" dur="450"/>
                                        <p:tgtEl>
                                          <p:spTgt spid="18"/>
                                        </p:tgtEl>
                                      </p:cBhvr>
                                    </p:animEffect>
                                  </p:childTnLst>
                                </p:cTn>
                              </p:par>
                            </p:childTnLst>
                          </p:cTn>
                        </p:par>
                        <p:par>
                          <p:cTn id="73" fill="hold">
                            <p:stCondLst>
                              <p:cond delay="5820"/>
                            </p:stCondLst>
                            <p:childTnLst>
                              <p:par>
                                <p:cTn id="64" presetID="22" presetClass="entr" presetSubtype="4" fill="hold" grpId="0" nodeType="after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down)">
                                      <p:cBhvr>
                                        <p:cTn id="66" dur="450"/>
                                        <p:tgtEl>
                                          <p:spTgt spid="19"/>
                                        </p:tgtEl>
                                      </p:cBhvr>
                                    </p:animEffect>
                                  </p:childTnLst>
                                </p:cTn>
                              </p:par>
                              <p:par>
                                <p:cTn id="67" presetID="22" presetClass="entr" presetSubtype="4" fill="hold" grpId="0" nodeType="withEffect">
                                  <p:stCondLst>
                                    <p:cond delay="140"/>
                                  </p:stCondLst>
                                  <p:childTnLst>
                                    <p:set>
                                      <p:cBhvr>
                                        <p:cTn id="68" dur="1" fill="hold">
                                          <p:stCondLst>
                                            <p:cond delay="0"/>
                                          </p:stCondLst>
                                        </p:cTn>
                                        <p:tgtEl>
                                          <p:spTgt spid="20"/>
                                        </p:tgtEl>
                                        <p:attrNameLst>
                                          <p:attrName>style.visibility</p:attrName>
                                        </p:attrNameLst>
                                      </p:cBhvr>
                                      <p:to>
                                        <p:strVal val="visible"/>
                                      </p:to>
                                    </p:set>
                                    <p:animEffect transition="in" filter="wipe(down)">
                                      <p:cBhvr>
                                        <p:cTn id="69" dur="450"/>
                                        <p:tgtEl>
                                          <p:spTgt spid="20"/>
                                        </p:tgtEl>
                                      </p:cBhvr>
                                    </p:animEffect>
                                  </p:childTnLst>
                                </p:cTn>
                              </p:par>
                              <p:par>
                                <p:cTn id="70" presetID="22" presetClass="entr" presetSubtype="4" fill="hold" grpId="0" nodeType="withEffect">
                                  <p:stCondLst>
                                    <p:cond delay="280"/>
                                  </p:stCondLst>
                                  <p:childTnLst>
                                    <p:set>
                                      <p:cBhvr>
                                        <p:cTn id="71" dur="1" fill="hold">
                                          <p:stCondLst>
                                            <p:cond delay="0"/>
                                          </p:stCondLst>
                                        </p:cTn>
                                        <p:tgtEl>
                                          <p:spTgt spid="21"/>
                                        </p:tgtEl>
                                        <p:attrNameLst>
                                          <p:attrName>style.visibility</p:attrName>
                                        </p:attrNameLst>
                                      </p:cBhvr>
                                      <p:to>
                                        <p:strVal val="visible"/>
                                      </p:to>
                                    </p:set>
                                    <p:animEffect transition="in" filter="wipe(down)">
                                      <p:cBhvr>
                                        <p:cTn id="72" dur="4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a1_0_f"/>
          <p:cNvSpPr txBox="1"/>
          <p:nvPr/>
        </p:nvSpPr>
        <p:spPr>
          <a:xfrm>
            <a:off x="812800" y="812800"/>
            <a:ext cx="10566400" cy="215900"/>
          </a:xfrm>
          <a:prstGeom prst="rect">
            <a:avLst/>
          </a:prstGeom>
          <a:noFill/>
          <a:ln/>
        </p:spPr>
        <p:txBody>
          <a:bodyPr wrap="square" lIns="0" tIns="0" rIns="0" bIns="0" rtlCol="0" anchor="t"/>
          <a:lstStyle/>
          <a:p>
            <a:pPr indent="0" marL="0">
              <a:buNone/>
            </a:pPr>
            <a:r>
              <a:rPr lang="en-US" sz="1200" b="1" spc="200" kern="0" dirty="0">
                <a:solidFill>
                  <a:srgbClr val="0F6B73"/>
                </a:solidFill>
                <a:latin typeface="Calibri" pitchFamily="34" charset="0"/>
                <a:ea typeface="Calibri" pitchFamily="34" charset="-122"/>
                <a:cs typeface="Calibri" pitchFamily="34" charset="-120"/>
              </a:rPr>
              <a:t>WHAT COMES NEXT</a:t>
            </a:r>
            <a:endParaRPr lang="en-US" sz="1200" dirty="0"/>
          </a:p>
        </p:txBody>
      </p:sp>
      <p:sp>
        <p:nvSpPr>
          <p:cNvPr id="3" name="a1_1_f"/>
          <p:cNvSpPr txBox="1"/>
          <p:nvPr/>
        </p:nvSpPr>
        <p:spPr>
          <a:xfrm>
            <a:off x="812800" y="1066800"/>
            <a:ext cx="10566400" cy="508000"/>
          </a:xfrm>
          <a:prstGeom prst="rect">
            <a:avLst/>
          </a:prstGeom>
          <a:noFill/>
          <a:ln/>
        </p:spPr>
        <p:txBody>
          <a:bodyPr wrap="square" lIns="0" tIns="0" rIns="0" bIns="0" rtlCol="0" anchor="t"/>
          <a:lstStyle/>
          <a:p>
            <a:pPr indent="0" marL="0">
              <a:buNone/>
            </a:pPr>
            <a:r>
              <a:rPr lang="en-US" sz="2600" b="1" dirty="0">
                <a:solidFill>
                  <a:srgbClr val="0B1E2D"/>
                </a:solidFill>
                <a:latin typeface="Cambria" pitchFamily="34" charset="0"/>
                <a:ea typeface="Cambria" pitchFamily="34" charset="-122"/>
                <a:cs typeface="Cambria" pitchFamily="34" charset="-120"/>
              </a:rPr>
              <a:t>Next: alerts, login and our own training footage</a:t>
            </a:r>
            <a:endParaRPr lang="en-US" sz="2600" dirty="0"/>
          </a:p>
        </p:txBody>
      </p:sp>
      <p:sp>
        <p:nvSpPr>
          <p:cNvPr id="4" name="a2_0_w"/>
          <p:cNvSpPr txBox="1"/>
          <p:nvPr/>
        </p:nvSpPr>
        <p:spPr>
          <a:xfrm>
            <a:off x="812800" y="1841500"/>
            <a:ext cx="3390900" cy="18415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600"/>
              </a:spcAft>
              <a:buNone/>
            </a:pPr>
            <a:r>
              <a:rPr lang="en-US" sz="1200" b="1" dirty="0">
                <a:solidFill>
                  <a:srgbClr val="0F6B73"/>
                </a:solidFill>
                <a:latin typeface="Calibri" pitchFamily="34" charset="0"/>
                <a:ea typeface="Calibri" pitchFamily="34" charset="-122"/>
                <a:cs typeface="Calibri" pitchFamily="34" charset="-120"/>
              </a:rPr>
              <a:t>01</a:t>
            </a:r>
            <a:endParaRPr lang="en-US" sz="1200" dirty="0"/>
          </a:p>
          <a:p>
            <a:pPr indent="0" marL="0">
              <a:spcAft>
                <a:spcPts val="600"/>
              </a:spcAft>
              <a:buNone/>
            </a:pPr>
            <a:r>
              <a:rPr lang="en-US" sz="1800" b="1" dirty="0">
                <a:solidFill>
                  <a:srgbClr val="0B1E2D"/>
                </a:solidFill>
                <a:latin typeface="Calibri" pitchFamily="34" charset="0"/>
                <a:ea typeface="Calibri" pitchFamily="34" charset="-122"/>
                <a:cs typeface="Calibri" pitchFamily="34" charset="-120"/>
              </a:rPr>
              <a:t>Alerts people receive</a:t>
            </a:r>
            <a:endParaRPr lang="en-US" sz="1200" dirty="0"/>
          </a:p>
          <a:p>
            <a:pPr indent="0" marL="0">
              <a:buNone/>
            </a:pPr>
            <a:r>
              <a:rPr lang="en-US" sz="1300" dirty="0">
                <a:solidFill>
                  <a:srgbClr val="334A5E"/>
                </a:solidFill>
                <a:latin typeface="Calibri" pitchFamily="34" charset="0"/>
                <a:ea typeface="Calibri" pitchFamily="34" charset="-122"/>
                <a:cs typeface="Calibri" pitchFamily="34" charset="-120"/>
              </a:rPr>
              <a:t>Telegram and email with the snapshot, and a second person alerted when nobody responds.</a:t>
            </a:r>
            <a:endParaRPr lang="en-US" sz="1200" dirty="0"/>
          </a:p>
        </p:txBody>
      </p:sp>
      <p:sp>
        <p:nvSpPr>
          <p:cNvPr id="5" name="a2_1_w"/>
          <p:cNvSpPr txBox="1"/>
          <p:nvPr/>
        </p:nvSpPr>
        <p:spPr>
          <a:xfrm>
            <a:off x="4400550" y="1841500"/>
            <a:ext cx="3390900" cy="18415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600"/>
              </a:spcAft>
              <a:buNone/>
            </a:pPr>
            <a:r>
              <a:rPr lang="en-US" sz="1200" b="1" dirty="0">
                <a:solidFill>
                  <a:srgbClr val="0F6B73"/>
                </a:solidFill>
                <a:latin typeface="Calibri" pitchFamily="34" charset="0"/>
                <a:ea typeface="Calibri" pitchFamily="34" charset="-122"/>
                <a:cs typeface="Calibri" pitchFamily="34" charset="-120"/>
              </a:rPr>
              <a:t>02</a:t>
            </a:r>
            <a:endParaRPr lang="en-US" sz="1200" dirty="0"/>
          </a:p>
          <a:p>
            <a:pPr indent="0" marL="0">
              <a:spcAft>
                <a:spcPts val="600"/>
              </a:spcAft>
              <a:buNone/>
            </a:pPr>
            <a:r>
              <a:rPr lang="en-US" sz="1800" b="1" dirty="0">
                <a:solidFill>
                  <a:srgbClr val="0B1E2D"/>
                </a:solidFill>
                <a:latin typeface="Calibri" pitchFamily="34" charset="0"/>
                <a:ea typeface="Calibri" pitchFamily="34" charset="-122"/>
                <a:cs typeface="Calibri" pitchFamily="34" charset="-120"/>
              </a:rPr>
              <a:t>Login and roles</a:t>
            </a:r>
            <a:endParaRPr lang="en-US" sz="1200" dirty="0"/>
          </a:p>
          <a:p>
            <a:pPr indent="0" marL="0">
              <a:buNone/>
            </a:pPr>
            <a:r>
              <a:rPr lang="en-US" sz="1300" dirty="0">
                <a:solidFill>
                  <a:srgbClr val="334A5E"/>
                </a:solidFill>
                <a:latin typeface="Calibri" pitchFamily="34" charset="0"/>
                <a:ea typeface="Calibri" pitchFamily="34" charset="-122"/>
                <a:cs typeface="Calibri" pitchFamily="34" charset="-120"/>
              </a:rPr>
              <a:t>Admin and viewer accounts and an audit log, before anyone else reaches the dashboard.</a:t>
            </a:r>
            <a:endParaRPr lang="en-US" sz="1200" dirty="0"/>
          </a:p>
        </p:txBody>
      </p:sp>
      <p:sp>
        <p:nvSpPr>
          <p:cNvPr id="6" name="a2_2_w"/>
          <p:cNvSpPr txBox="1"/>
          <p:nvPr/>
        </p:nvSpPr>
        <p:spPr>
          <a:xfrm>
            <a:off x="7988300" y="1841500"/>
            <a:ext cx="3390900" cy="1841500"/>
          </a:xfrm>
          <a:prstGeom prst="rect">
            <a:avLst/>
          </a:prstGeom>
          <a:solidFill>
            <a:srgbClr val="F1F5F8"/>
          </a:solidFill>
          <a:ln w="12700">
            <a:solidFill>
              <a:srgbClr val="D0DDE7"/>
            </a:solidFill>
          </a:ln>
        </p:spPr>
        <p:txBody>
          <a:bodyPr wrap="square" lIns="228600" tIns="254000" rIns="254000" bIns="177800" rtlCol="0" anchor="t"/>
          <a:lstStyle/>
          <a:p>
            <a:pPr indent="0" marL="0">
              <a:spcAft>
                <a:spcPts val="600"/>
              </a:spcAft>
              <a:buNone/>
            </a:pPr>
            <a:r>
              <a:rPr lang="en-US" sz="1200" b="1" dirty="0">
                <a:solidFill>
                  <a:srgbClr val="0F6B73"/>
                </a:solidFill>
                <a:latin typeface="Calibri" pitchFamily="34" charset="0"/>
                <a:ea typeface="Calibri" pitchFamily="34" charset="-122"/>
                <a:cs typeface="Calibri" pitchFamily="34" charset="-120"/>
              </a:rPr>
              <a:t>03</a:t>
            </a:r>
            <a:endParaRPr lang="en-US" sz="1200" dirty="0"/>
          </a:p>
          <a:p>
            <a:pPr indent="0" marL="0">
              <a:spcAft>
                <a:spcPts val="600"/>
              </a:spcAft>
              <a:buNone/>
            </a:pPr>
            <a:r>
              <a:rPr lang="en-US" sz="1800" b="1" dirty="0">
                <a:solidFill>
                  <a:srgbClr val="0B1E2D"/>
                </a:solidFill>
                <a:latin typeface="Calibri" pitchFamily="34" charset="0"/>
                <a:ea typeface="Calibri" pitchFamily="34" charset="-122"/>
                <a:cs typeface="Calibri" pitchFamily="34" charset="-120"/>
              </a:rPr>
              <a:t>Train on our own scenes</a:t>
            </a:r>
            <a:endParaRPr lang="en-US" sz="1200" dirty="0"/>
          </a:p>
          <a:p>
            <a:pPr indent="0" marL="0">
              <a:buNone/>
            </a:pPr>
            <a:r>
              <a:rPr lang="en-US" sz="1300" dirty="0">
                <a:solidFill>
                  <a:srgbClr val="334A5E"/>
                </a:solidFill>
                <a:latin typeface="Calibri" pitchFamily="34" charset="0"/>
                <a:ea typeface="Calibri" pitchFamily="34" charset="-122"/>
                <a:cs typeface="Calibri" pitchFamily="34" charset="-120"/>
              </a:rPr>
              <a:t>Collect lighter, match and candle clips, label them, and retrain on Colab.</a:t>
            </a:r>
            <a:endParaRPr lang="en-US" sz="1200" dirty="0"/>
          </a:p>
        </p:txBody>
      </p:sp>
      <p:sp>
        <p:nvSpPr>
          <p:cNvPr id="7" name="a3_0_w"/>
          <p:cNvSpPr txBox="1"/>
          <p:nvPr/>
        </p:nvSpPr>
        <p:spPr>
          <a:xfrm>
            <a:off x="812800" y="4064000"/>
            <a:ext cx="2489200" cy="698500"/>
          </a:xfrm>
          <a:prstGeom prst="rect">
            <a:avLst/>
          </a:prstGeom>
          <a:noFill/>
          <a:ln/>
        </p:spPr>
        <p:txBody>
          <a:bodyPr wrap="square" lIns="0" tIns="0" rIns="0" bIns="0" rtlCol="0" anchor="t"/>
          <a:lstStyle/>
          <a:p>
            <a:pPr indent="0" marL="0">
              <a:spcAft>
                <a:spcPts val="200"/>
              </a:spcAft>
              <a:buNone/>
            </a:pPr>
            <a:r>
              <a:rPr lang="en-US" sz="3200" b="1" dirty="0">
                <a:solidFill>
                  <a:srgbClr val="0B1E2D"/>
                </a:solidFill>
                <a:latin typeface="Cambria" pitchFamily="34" charset="0"/>
                <a:ea typeface="Cambria" pitchFamily="34" charset="-122"/>
                <a:cs typeface="Cambria" pitchFamily="34" charset="-120"/>
              </a:rPr>
              <a:t>79</a:t>
            </a:r>
            <a:endParaRPr lang="en-US" sz="1400" dirty="0"/>
          </a:p>
          <a:p>
            <a:pPr indent="0" marL="0">
              <a:buNone/>
            </a:pPr>
            <a:r>
              <a:rPr lang="en-US" sz="1200" dirty="0">
                <a:solidFill>
                  <a:srgbClr val="4A5F6F"/>
                </a:solidFill>
                <a:latin typeface="Calibri" pitchFamily="34" charset="0"/>
                <a:ea typeface="Calibri" pitchFamily="34" charset="-122"/>
                <a:cs typeface="Calibri" pitchFamily="34" charset="-120"/>
              </a:rPr>
              <a:t>automated backend tests</a:t>
            </a:r>
            <a:endParaRPr lang="en-US" sz="1400" dirty="0"/>
          </a:p>
        </p:txBody>
      </p:sp>
      <p:sp>
        <p:nvSpPr>
          <p:cNvPr id="8" name="a3_1_w"/>
          <p:cNvSpPr txBox="1"/>
          <p:nvPr/>
        </p:nvSpPr>
        <p:spPr>
          <a:xfrm>
            <a:off x="3505200" y="4064000"/>
            <a:ext cx="2489200" cy="698500"/>
          </a:xfrm>
          <a:prstGeom prst="rect">
            <a:avLst/>
          </a:prstGeom>
          <a:noFill/>
          <a:ln/>
        </p:spPr>
        <p:txBody>
          <a:bodyPr wrap="square" lIns="0" tIns="0" rIns="0" bIns="0" rtlCol="0" anchor="t"/>
          <a:lstStyle/>
          <a:p>
            <a:pPr indent="0" marL="0">
              <a:spcAft>
                <a:spcPts val="200"/>
              </a:spcAft>
              <a:buNone/>
            </a:pPr>
            <a:r>
              <a:rPr lang="en-US" sz="3200" b="1" dirty="0">
                <a:solidFill>
                  <a:srgbClr val="0B1E2D"/>
                </a:solidFill>
                <a:latin typeface="Cambria" pitchFamily="34" charset="0"/>
                <a:ea typeface="Cambria" pitchFamily="34" charset="-122"/>
                <a:cs typeface="Cambria" pitchFamily="34" charset="-120"/>
              </a:rPr>
              <a:t>7</a:t>
            </a:r>
            <a:endParaRPr lang="en-US" sz="1400" dirty="0"/>
          </a:p>
          <a:p>
            <a:pPr indent="0" marL="0">
              <a:buNone/>
            </a:pPr>
            <a:r>
              <a:rPr lang="en-US" sz="1200" dirty="0">
                <a:solidFill>
                  <a:srgbClr val="4A5F6F"/>
                </a:solidFill>
                <a:latin typeface="Calibri" pitchFamily="34" charset="0"/>
                <a:ea typeface="Calibri" pitchFamily="34" charset="-122"/>
                <a:cs typeface="Calibri" pitchFamily="34" charset="-120"/>
              </a:rPr>
              <a:t>dashboard pages</a:t>
            </a:r>
            <a:endParaRPr lang="en-US" sz="1400" dirty="0"/>
          </a:p>
        </p:txBody>
      </p:sp>
      <p:sp>
        <p:nvSpPr>
          <p:cNvPr id="9" name="a3_2_w"/>
          <p:cNvSpPr txBox="1"/>
          <p:nvPr/>
        </p:nvSpPr>
        <p:spPr>
          <a:xfrm>
            <a:off x="6197600" y="4064000"/>
            <a:ext cx="2489200" cy="698500"/>
          </a:xfrm>
          <a:prstGeom prst="rect">
            <a:avLst/>
          </a:prstGeom>
          <a:noFill/>
          <a:ln/>
        </p:spPr>
        <p:txBody>
          <a:bodyPr wrap="square" lIns="0" tIns="0" rIns="0" bIns="0" rtlCol="0" anchor="t"/>
          <a:lstStyle/>
          <a:p>
            <a:pPr indent="0" marL="0">
              <a:spcAft>
                <a:spcPts val="200"/>
              </a:spcAft>
              <a:buNone/>
            </a:pPr>
            <a:r>
              <a:rPr lang="en-US" sz="3200" b="1" dirty="0">
                <a:solidFill>
                  <a:srgbClr val="0B1E2D"/>
                </a:solidFill>
                <a:latin typeface="Cambria" pitchFamily="34" charset="0"/>
                <a:ea typeface="Cambria" pitchFamily="34" charset="-122"/>
                <a:cs typeface="Cambria" pitchFamily="34" charset="-120"/>
              </a:rPr>
              <a:t>4,302</a:t>
            </a:r>
            <a:endParaRPr lang="en-US" sz="1400" dirty="0"/>
          </a:p>
          <a:p>
            <a:pPr indent="0" marL="0">
              <a:buNone/>
            </a:pPr>
            <a:r>
              <a:rPr lang="en-US" sz="1200" dirty="0">
                <a:solidFill>
                  <a:srgbClr val="4A5F6F"/>
                </a:solidFill>
                <a:latin typeface="Calibri" pitchFamily="34" charset="0"/>
                <a:ea typeface="Calibri" pitchFamily="34" charset="-122"/>
                <a:cs typeface="Calibri" pitchFamily="34" charset="-120"/>
              </a:rPr>
              <a:t>unseen test images</a:t>
            </a:r>
            <a:endParaRPr lang="en-US" sz="1400" dirty="0"/>
          </a:p>
        </p:txBody>
      </p:sp>
      <p:sp>
        <p:nvSpPr>
          <p:cNvPr id="10" name="a3_3_w"/>
          <p:cNvSpPr txBox="1"/>
          <p:nvPr/>
        </p:nvSpPr>
        <p:spPr>
          <a:xfrm>
            <a:off x="8890000" y="4064000"/>
            <a:ext cx="2489200" cy="698500"/>
          </a:xfrm>
          <a:prstGeom prst="rect">
            <a:avLst/>
          </a:prstGeom>
          <a:noFill/>
          <a:ln/>
        </p:spPr>
        <p:txBody>
          <a:bodyPr wrap="square" lIns="0" tIns="0" rIns="0" bIns="0" rtlCol="0" anchor="t"/>
          <a:lstStyle/>
          <a:p>
            <a:pPr indent="0" marL="0">
              <a:spcAft>
                <a:spcPts val="200"/>
              </a:spcAft>
              <a:buNone/>
            </a:pPr>
            <a:r>
              <a:rPr lang="en-US" sz="3200" b="1" dirty="0">
                <a:solidFill>
                  <a:srgbClr val="0B1E2D"/>
                </a:solidFill>
                <a:latin typeface="Cambria" pitchFamily="34" charset="0"/>
                <a:ea typeface="Cambria" pitchFamily="34" charset="-122"/>
                <a:cs typeface="Cambria" pitchFamily="34" charset="-120"/>
              </a:rPr>
              <a:t>198 ms</a:t>
            </a:r>
            <a:endParaRPr lang="en-US" sz="1400" dirty="0"/>
          </a:p>
          <a:p>
            <a:pPr indent="0" marL="0">
              <a:buNone/>
            </a:pPr>
            <a:r>
              <a:rPr lang="en-US" sz="1200" dirty="0">
                <a:solidFill>
                  <a:srgbClr val="4A5F6F"/>
                </a:solidFill>
                <a:latin typeface="Calibri" pitchFamily="34" charset="0"/>
                <a:ea typeface="Calibri" pitchFamily="34" charset="-122"/>
                <a:cs typeface="Calibri" pitchFamily="34" charset="-120"/>
              </a:rPr>
              <a:t>per frame on a CPU</a:t>
            </a:r>
            <a:endParaRPr lang="en-US" sz="1400" dirty="0"/>
          </a:p>
        </p:txBody>
      </p:sp>
      <p:sp>
        <p:nvSpPr>
          <p:cNvPr id="11" name="a4_0_w"/>
          <p:cNvSpPr txBox="1"/>
          <p:nvPr/>
        </p:nvSpPr>
        <p:spPr>
          <a:xfrm>
            <a:off x="812800" y="5334000"/>
            <a:ext cx="6350000" cy="444500"/>
          </a:xfrm>
          <a:prstGeom prst="rect">
            <a:avLst/>
          </a:prstGeom>
          <a:noFill/>
          <a:ln/>
        </p:spPr>
        <p:txBody>
          <a:bodyPr wrap="square" lIns="0" tIns="0" rIns="0" bIns="0" rtlCol="0" anchor="t"/>
          <a:lstStyle/>
          <a:p>
            <a:pPr indent="0" marL="0">
              <a:buNone/>
            </a:pPr>
            <a:r>
              <a:rPr lang="en-US" sz="2400" b="1" dirty="0">
                <a:solidFill>
                  <a:srgbClr val="0B1E2D"/>
                </a:solidFill>
                <a:latin typeface="Cambria" pitchFamily="34" charset="0"/>
                <a:ea typeface="Cambria" pitchFamily="34" charset="-122"/>
                <a:cs typeface="Cambria" pitchFamily="34" charset="-120"/>
              </a:rPr>
              <a:t>Thank you. Questions?</a:t>
            </a:r>
            <a:endParaRPr lang="en-US" sz="2400" dirty="0"/>
          </a:p>
        </p:txBody>
      </p:sp>
      <p:sp>
        <p:nvSpPr>
          <p:cNvPr id="12" name="footer-note"/>
          <p:cNvSpPr txBox="1"/>
          <p:nvPr/>
        </p:nvSpPr>
        <p:spPr>
          <a:xfrm>
            <a:off x="812800" y="6261100"/>
            <a:ext cx="8890000" cy="215900"/>
          </a:xfrm>
          <a:prstGeom prst="rect">
            <a:avLst/>
          </a:prstGeom>
          <a:noFill/>
          <a:ln/>
        </p:spPr>
        <p:txBody>
          <a:bodyPr wrap="square" lIns="0" tIns="0" rIns="0" bIns="0" rtlCol="0" anchor="t"/>
          <a:lstStyle/>
          <a:p>
            <a:pPr indent="0" marL="0">
              <a:buNone/>
            </a:pPr>
            <a:r>
              <a:rPr lang="en-US" sz="1200" dirty="0">
                <a:solidFill>
                  <a:srgbClr val="4A5F6F"/>
                </a:solidFill>
                <a:latin typeface="Calibri" pitchFamily="34" charset="0"/>
                <a:ea typeface="Calibri" pitchFamily="34" charset="-122"/>
                <a:cs typeface="Calibri" pitchFamily="34" charset="-120"/>
              </a:rPr>
              <a:t>SmokeShield · See the flames before they spread</a:t>
            </a:r>
            <a:endParaRPr lang="en-US" sz="1200" dirty="0"/>
          </a:p>
        </p:txBody>
      </p:sp>
      <p:sp>
        <p:nvSpPr>
          <p:cNvPr id="13" name="footer-page"/>
          <p:cNvSpPr txBox="1"/>
          <p:nvPr/>
        </p:nvSpPr>
        <p:spPr>
          <a:xfrm>
            <a:off x="10109200" y="6261100"/>
            <a:ext cx="1270000" cy="215900"/>
          </a:xfrm>
          <a:prstGeom prst="rect">
            <a:avLst/>
          </a:prstGeom>
          <a:noFill/>
          <a:ln/>
        </p:spPr>
        <p:txBody>
          <a:bodyPr wrap="square" lIns="0" tIns="0" rIns="0" bIns="0" rtlCol="0" anchor="t"/>
          <a:lstStyle/>
          <a:p>
            <a:pPr algn="r" indent="0" marL="0">
              <a:buNone/>
            </a:pPr>
            <a:r>
              <a:rPr lang="en-US" sz="1200" dirty="0">
                <a:solidFill>
                  <a:srgbClr val="4A5F6F"/>
                </a:solidFill>
                <a:latin typeface="Calibri" pitchFamily="34" charset="0"/>
                <a:ea typeface="Calibri" pitchFamily="34" charset="-122"/>
                <a:cs typeface="Calibri" pitchFamily="34" charset="-120"/>
              </a:rPr>
              <a:t>7 / 7</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1"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4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childTnLst>
                          </p:cTn>
                        </p:par>
                        <p:par>
                          <p:cTn id="21" fill="hold">
                            <p:stCondLst>
                              <p:cond delay="710"/>
                            </p:stCondLst>
                            <p:childTnLst>
                              <p:par>
                                <p:cTn id="12" presetID="22" presetClass="entr" presetSubtype="4"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450"/>
                                        <p:tgtEl>
                                          <p:spTgt spid="4"/>
                                        </p:tgtEl>
                                      </p:cBhvr>
                                    </p:animEffect>
                                  </p:childTnLst>
                                </p:cTn>
                              </p:par>
                              <p:par>
                                <p:cTn id="15" presetID="22" presetClass="entr" presetSubtype="4" fill="hold" grpId="0" nodeType="withEffect">
                                  <p:stCondLst>
                                    <p:cond delay="14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450"/>
                                        <p:tgtEl>
                                          <p:spTgt spid="5"/>
                                        </p:tgtEl>
                                      </p:cBhvr>
                                    </p:animEffect>
                                  </p:childTnLst>
                                </p:cTn>
                              </p:par>
                              <p:par>
                                <p:cTn id="18" presetID="22" presetClass="entr" presetSubtype="4" fill="hold" grpId="0" nodeType="withEffect">
                                  <p:stCondLst>
                                    <p:cond delay="28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450"/>
                                        <p:tgtEl>
                                          <p:spTgt spid="6"/>
                                        </p:tgtEl>
                                      </p:cBhvr>
                                    </p:animEffect>
                                  </p:childTnLst>
                                </p:cTn>
                              </p:par>
                            </p:childTnLst>
                          </p:cTn>
                        </p:par>
                        <p:par>
                          <p:cTn id="34" fill="hold">
                            <p:stCondLst>
                              <p:cond delay="1560"/>
                            </p:stCondLst>
                            <p:childTnLst>
                              <p:par>
                                <p:cTn id="22" presetID="22" presetClass="entr" presetSubtype="4"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450"/>
                                        <p:tgtEl>
                                          <p:spTgt spid="7"/>
                                        </p:tgtEl>
                                      </p:cBhvr>
                                    </p:animEffect>
                                  </p:childTnLst>
                                </p:cTn>
                              </p:par>
                              <p:par>
                                <p:cTn id="25" presetID="22" presetClass="entr" presetSubtype="4" fill="hold" grpId="0" nodeType="withEffect">
                                  <p:stCondLst>
                                    <p:cond delay="14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450"/>
                                        <p:tgtEl>
                                          <p:spTgt spid="8"/>
                                        </p:tgtEl>
                                      </p:cBhvr>
                                    </p:animEffect>
                                  </p:childTnLst>
                                </p:cTn>
                              </p:par>
                              <p:par>
                                <p:cTn id="28" presetID="22" presetClass="entr" presetSubtype="4" fill="hold" grpId="0" nodeType="withEffect">
                                  <p:stCondLst>
                                    <p:cond delay="28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450"/>
                                        <p:tgtEl>
                                          <p:spTgt spid="9"/>
                                        </p:tgtEl>
                                      </p:cBhvr>
                                    </p:animEffect>
                                  </p:childTnLst>
                                </p:cTn>
                              </p:par>
                              <p:par>
                                <p:cTn id="31" presetID="22" presetClass="entr" presetSubtype="4" fill="hold" grpId="0" nodeType="withEffect">
                                  <p:stCondLst>
                                    <p:cond delay="42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450"/>
                                        <p:tgtEl>
                                          <p:spTgt spid="10"/>
                                        </p:tgtEl>
                                      </p:cBhvr>
                                    </p:animEffect>
                                  </p:childTnLst>
                                </p:cTn>
                              </p:par>
                            </p:childTnLst>
                          </p:cTn>
                        </p:par>
                        <p:par>
                          <p:cTn id="38" fill="hold">
                            <p:stCondLst>
                              <p:cond delay="2550"/>
                            </p:stCondLst>
                            <p:childTnLst>
                              <p:par>
                                <p:cTn id="35" presetID="22" presetClass="entr" presetSubtype="4" fill="hold" grpId="0" nodeType="after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SmokeShield - Project Showcase</dc:title>
  <dc:subject>PptxGenJS Presentation</dc:subject>
  <dc:creator>Hemal Katariya</dc:creator>
  <cp:lastModifiedBy>Hemal Katariya</cp:lastModifiedBy>
  <cp:revision>1</cp:revision>
  <dcterms:created xsi:type="dcterms:W3CDTF">2026-10-31T15:13:47Z</dcterms:created>
  <dcterms:modified xsi:type="dcterms:W3CDTF">2026-10-31T15:13:47Z</dcterms:modified>
</cp:coreProperties>
</file>